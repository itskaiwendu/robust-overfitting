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9B39CD7-D1CC-4C7E-91B1-2210CECFB6A5}">
  <a:tblStyle styleId="{59B39CD7-D1CC-4C7E-91B1-2210CECFB6A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3369da4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3369da4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Hello everyone! My name is Kaiwen Du, and today I’ll be presenting my summer research on robust overfitting in adversarial training.</a:t>
            </a:r>
            <a:endParaRPr/>
          </a:p>
          <a:p>
            <a:pPr indent="0" lvl="0" marL="0" rtl="0" algn="l">
              <a:lnSpc>
                <a:spcPct val="115000"/>
              </a:lnSpc>
              <a:spcBef>
                <a:spcPts val="0"/>
              </a:spcBef>
              <a:spcAft>
                <a:spcPts val="0"/>
              </a:spcAft>
              <a:buClr>
                <a:schemeClr val="dk1"/>
              </a:buClr>
              <a:buSzPts val="1100"/>
              <a:buFont typeface="Arial"/>
              <a:buNone/>
            </a:pPr>
            <a:r>
              <a:rPr lang="en"/>
              <a:t>The main question is how the attacks we use during training affect a model’s robustness as training continues.</a:t>
            </a:r>
            <a:endParaRPr/>
          </a:p>
          <a:p>
            <a:pPr indent="0" lvl="0" marL="0" rtl="0" algn="l">
              <a:lnSpc>
                <a:spcPct val="115000"/>
              </a:lnSpc>
              <a:spcBef>
                <a:spcPts val="0"/>
              </a:spcBef>
              <a:spcAft>
                <a:spcPts val="0"/>
              </a:spcAft>
              <a:buNone/>
            </a:pPr>
            <a:r>
              <a:rPr lang="en"/>
              <a:t>I’ll start with some background on adversarial attacks and adversarial training, then walk through the experiments I ran and what I found.</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f951f3020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f951f3020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Here is an example from Goodfellow and colleagues. The model initially identifies a panda with 57.7 percent confidence.</a:t>
            </a:r>
            <a:endParaRPr/>
          </a:p>
          <a:p>
            <a:pPr indent="0" lvl="0" marL="0" rtl="0" algn="l">
              <a:spcBef>
                <a:spcPts val="0"/>
              </a:spcBef>
              <a:spcAft>
                <a:spcPts val="0"/>
              </a:spcAft>
              <a:buNone/>
            </a:pPr>
            <a:r>
              <a:rPr lang="en"/>
              <a:t>The middle image shows the perturbation pattern. After scaling it down and adding it to the original, the model predicts gibbon with 99.3 percent confidence.</a:t>
            </a:r>
            <a:endParaRPr/>
          </a:p>
          <a:p>
            <a:pPr indent="0" lvl="0" marL="0" rtl="0" algn="l">
              <a:spcBef>
                <a:spcPts val="0"/>
              </a:spcBef>
              <a:spcAft>
                <a:spcPts val="0"/>
              </a:spcAft>
              <a:buNone/>
            </a:pPr>
            <a:r>
              <a:rPr lang="en"/>
              <a:t>To us, the images look nearly identical. The changes were deliberately chosen to mislead the model. So how do we calculate them?</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g3f4abb14d47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g3f4abb14d47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FGSM uses the loss gradient to find directions that increase the model’s error. It keeps the sign of each component, scales by epsilon, and adds the result to the image. Clipping keeps pixel values valid.</a:t>
            </a:r>
            <a:endParaRPr/>
          </a:p>
          <a:p>
            <a:pPr indent="0" lvl="0" marL="0" rtl="0" algn="l">
              <a:lnSpc>
                <a:spcPct val="115000"/>
              </a:lnSpc>
              <a:spcBef>
                <a:spcPts val="1200"/>
              </a:spcBef>
              <a:spcAft>
                <a:spcPts val="0"/>
              </a:spcAft>
              <a:buClr>
                <a:schemeClr val="dk1"/>
              </a:buClr>
              <a:buSzPts val="1100"/>
              <a:buFont typeface="Arial"/>
              <a:buNone/>
            </a:pPr>
            <a:r>
              <a:rPr lang="en"/>
              <a:t>Epsilon controls the allowed change. The intuition is that small changes across many pixels can add together and substantially affect the prediction.</a:t>
            </a:r>
            <a:endParaRPr/>
          </a:p>
          <a:p>
            <a:pPr indent="0" lvl="0" marL="0" rtl="0" algn="l">
              <a:lnSpc>
                <a:spcPct val="115000"/>
              </a:lnSpc>
              <a:spcBef>
                <a:spcPts val="1200"/>
              </a:spcBef>
              <a:spcAft>
                <a:spcPts val="1200"/>
              </a:spcAft>
              <a:buNone/>
            </a:pPr>
            <a:r>
              <a:rPr lang="en"/>
              <a:t>FGSM takes one step. Our experiments use an iterative attack called PGD.</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f4abb14d47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f4abb14d47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PGD takes several steps, recalculating the gradient as the image changes. After each step, it brings the perturbation back within the allowed limit.</a:t>
            </a:r>
            <a:endParaRPr/>
          </a:p>
          <a:p>
            <a:pPr indent="0" lvl="0" marL="0" rtl="0" algn="l">
              <a:spcBef>
                <a:spcPts val="0"/>
              </a:spcBef>
              <a:spcAft>
                <a:spcPts val="0"/>
              </a:spcAft>
              <a:buClr>
                <a:schemeClr val="dk1"/>
              </a:buClr>
              <a:buSzPts val="1100"/>
              <a:buFont typeface="Arial"/>
              <a:buNone/>
            </a:pPr>
            <a:r>
              <a:rPr lang="en"/>
              <a:t>That limit matters because the attack should change the input only within the rules we set.</a:t>
            </a:r>
            <a:endParaRPr/>
          </a:p>
          <a:p>
            <a:pPr indent="0" lvl="0" marL="0" rtl="0" algn="l">
              <a:spcBef>
                <a:spcPts val="0"/>
              </a:spcBef>
              <a:spcAft>
                <a:spcPts val="0"/>
              </a:spcAft>
              <a:buClr>
                <a:schemeClr val="dk1"/>
              </a:buClr>
              <a:buSzPts val="1100"/>
              <a:buFont typeface="Arial"/>
              <a:buNone/>
            </a:pPr>
            <a:r>
              <a:rPr lang="en"/>
              <a:t>Once we generate the attacked image, we train the model to classify it correctly using the original label. The attack tries to increase the loss, while the model update tries to reduce it.</a:t>
            </a:r>
            <a:endParaRPr/>
          </a:p>
          <a:p>
            <a:pPr indent="0" lvl="0" marL="0" rtl="0" algn="l">
              <a:spcBef>
                <a:spcPts val="0"/>
              </a:spcBef>
              <a:spcAft>
                <a:spcPts val="0"/>
              </a:spcAft>
              <a:buClr>
                <a:schemeClr val="dk1"/>
              </a:buClr>
              <a:buSzPts val="1100"/>
              <a:buFont typeface="Arial"/>
              <a:buNone/>
            </a:pPr>
            <a:r>
              <a:rPr lang="en"/>
              <a:t>For my experiments, each training attack uses ten steps, which is why you’ll see the name PGD-10.</a:t>
            </a:r>
            <a:endParaRPr/>
          </a:p>
          <a:p>
            <a:pPr indent="0" lvl="0" marL="0" rtl="0" algn="l">
              <a:spcBef>
                <a:spcPts val="0"/>
              </a:spcBef>
              <a:spcAft>
                <a:spcPts val="0"/>
              </a:spcAft>
              <a:buNone/>
            </a:pPr>
            <a:r>
              <a:rPr lang="en"/>
              <a:t>This gives the model practice handling adversarial inputs. But continuing that training does not always keep improving its robustness.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f4abb14d47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f4abb14d47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This is the problem called robust overfitting.</a:t>
            </a:r>
            <a:endParaRPr/>
          </a:p>
          <a:p>
            <a:pPr indent="0" lvl="0" marL="0" rtl="0" algn="l">
              <a:lnSpc>
                <a:spcPct val="115000"/>
              </a:lnSpc>
              <a:spcBef>
                <a:spcPts val="1200"/>
              </a:spcBef>
              <a:spcAft>
                <a:spcPts val="0"/>
              </a:spcAft>
              <a:buClr>
                <a:schemeClr val="dk1"/>
              </a:buClr>
              <a:buSzPts val="1100"/>
              <a:buFont typeface="Arial"/>
              <a:buNone/>
            </a:pPr>
            <a:r>
              <a:rPr lang="en"/>
              <a:t>A model can continue improving on its training examples while becoming less accurate on attacked test examples.</a:t>
            </a:r>
            <a:endParaRPr/>
          </a:p>
          <a:p>
            <a:pPr indent="0" lvl="0" marL="0" rtl="0" algn="l">
              <a:lnSpc>
                <a:spcPct val="115000"/>
              </a:lnSpc>
              <a:spcBef>
                <a:spcPts val="1200"/>
              </a:spcBef>
              <a:spcAft>
                <a:spcPts val="0"/>
              </a:spcAft>
              <a:buClr>
                <a:schemeClr val="dk1"/>
              </a:buClr>
              <a:buSzPts val="1100"/>
              <a:buFont typeface="Arial"/>
              <a:buNone/>
            </a:pPr>
            <a:r>
              <a:rPr lang="en"/>
              <a:t>In this figure, the blue bars show the best robust test error during training, and the red bars show the final error. Lower is better. The gap illustrates the performance lost by continuing to the final checkpoint.</a:t>
            </a:r>
            <a:endParaRPr/>
          </a:p>
          <a:p>
            <a:pPr indent="0" lvl="0" marL="0" rtl="0" algn="l">
              <a:lnSpc>
                <a:spcPct val="115000"/>
              </a:lnSpc>
              <a:spcBef>
                <a:spcPts val="1200"/>
              </a:spcBef>
              <a:spcAft>
                <a:spcPts val="0"/>
              </a:spcAft>
              <a:buClr>
                <a:schemeClr val="dk1"/>
              </a:buClr>
              <a:buSzPts val="1100"/>
              <a:buFont typeface="Arial"/>
              <a:buNone/>
            </a:pPr>
            <a:r>
              <a:rPr lang="en"/>
              <a:t>One established response is early stopping: use a separate validation set to choose which checkpoint to keep.</a:t>
            </a:r>
            <a:endParaRPr/>
          </a:p>
          <a:p>
            <a:pPr indent="0" lvl="0" marL="0" rtl="0" algn="l">
              <a:lnSpc>
                <a:spcPct val="115000"/>
              </a:lnSpc>
              <a:spcBef>
                <a:spcPts val="1200"/>
              </a:spcBef>
              <a:spcAft>
                <a:spcPts val="1200"/>
              </a:spcAft>
              <a:buNone/>
            </a:pPr>
            <a:r>
              <a:rPr lang="en"/>
              <a:t>That helps with checkpoint selection. My research asks how changing the attack used during training affects the robustness trajectory itself.</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94b6fb87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94b6fb87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That brings us to my research question.</a:t>
            </a:r>
            <a:endParaRPr/>
          </a:p>
          <a:p>
            <a:pPr indent="0" lvl="0" marL="0" rtl="0" algn="l">
              <a:lnSpc>
                <a:spcPct val="115000"/>
              </a:lnSpc>
              <a:spcBef>
                <a:spcPts val="1200"/>
              </a:spcBef>
              <a:spcAft>
                <a:spcPts val="0"/>
              </a:spcAft>
              <a:buClr>
                <a:schemeClr val="dk1"/>
              </a:buClr>
              <a:buSzPts val="1100"/>
              <a:buFont typeface="Arial"/>
              <a:buNone/>
            </a:pPr>
            <a:r>
              <a:rPr lang="en"/>
              <a:t>I compared training with pixel-space attacks, training with low-frequency attacks, and randomly choosing between the two at the start of each epoch.</a:t>
            </a:r>
            <a:endParaRPr/>
          </a:p>
          <a:p>
            <a:pPr indent="0" lvl="0" marL="0" rtl="0" algn="l">
              <a:lnSpc>
                <a:spcPct val="115000"/>
              </a:lnSpc>
              <a:spcBef>
                <a:spcPts val="1200"/>
              </a:spcBef>
              <a:spcAft>
                <a:spcPts val="0"/>
              </a:spcAft>
              <a:buClr>
                <a:schemeClr val="dk1"/>
              </a:buClr>
              <a:buSzPts val="1100"/>
              <a:buFont typeface="Arial"/>
              <a:buNone/>
            </a:pPr>
            <a:r>
              <a:rPr lang="en"/>
              <a:t>An epoch means one pass through the training dataset. In the mixed condition, every batch in that epoch uses the selected attack.</a:t>
            </a:r>
            <a:endParaRPr/>
          </a:p>
          <a:p>
            <a:pPr indent="0" lvl="0" marL="0" rtl="0" algn="l">
              <a:lnSpc>
                <a:spcPct val="115000"/>
              </a:lnSpc>
              <a:spcBef>
                <a:spcPts val="1200"/>
              </a:spcBef>
              <a:spcAft>
                <a:spcPts val="0"/>
              </a:spcAft>
              <a:buClr>
                <a:schemeClr val="dk1"/>
              </a:buClr>
              <a:buSzPts val="1100"/>
              <a:buFont typeface="Arial"/>
              <a:buNone/>
            </a:pPr>
            <a:r>
              <a:rPr lang="en"/>
              <a:t>The hypothesis was that changing the training attack would change the robustness curves. The peak might move, the curve might flatten, or the decline might change. It did not assume that mixing would necessarily improve the results.</a:t>
            </a:r>
            <a:endParaRPr/>
          </a:p>
          <a:p>
            <a:pPr indent="0" lvl="0" marL="0" rtl="0" algn="l">
              <a:lnSpc>
                <a:spcPct val="115000"/>
              </a:lnSpc>
              <a:spcBef>
                <a:spcPts val="1200"/>
              </a:spcBef>
              <a:spcAft>
                <a:spcPts val="0"/>
              </a:spcAft>
              <a:buClr>
                <a:schemeClr val="dk1"/>
              </a:buClr>
              <a:buSzPts val="1100"/>
              <a:buFont typeface="Arial"/>
              <a:buNone/>
            </a:pPr>
            <a:r>
              <a:rPr lang="en"/>
              <a:t>This matters because it tests whether varying the training attack is a useful direction for maintaining robustness over time.</a:t>
            </a:r>
            <a:endParaRPr/>
          </a:p>
          <a:p>
            <a:pPr indent="0" lvl="0" marL="0" rtl="0" algn="l">
              <a:lnSpc>
                <a:spcPct val="115000"/>
              </a:lnSpc>
              <a:spcBef>
                <a:spcPts val="1200"/>
              </a:spcBef>
              <a:spcAft>
                <a:spcPts val="1200"/>
              </a:spcAft>
              <a:buNone/>
            </a:pPr>
            <a:r>
              <a:rPr lang="en"/>
              <a:t>Before showing the results, let me explain the difference between these attacks.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fb94eb41cd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fb94eb41cd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Pixel-space PGD can change individual pixel values within the allowed budget.</a:t>
            </a:r>
            <a:endParaRPr/>
          </a:p>
          <a:p>
            <a:pPr indent="0" lvl="0" marL="0" rtl="0" algn="l">
              <a:lnSpc>
                <a:spcPct val="115000"/>
              </a:lnSpc>
              <a:spcBef>
                <a:spcPts val="1200"/>
              </a:spcBef>
              <a:spcAft>
                <a:spcPts val="0"/>
              </a:spcAft>
              <a:buClr>
                <a:schemeClr val="dk1"/>
              </a:buClr>
              <a:buSzPts val="1100"/>
              <a:buFont typeface="Arial"/>
              <a:buNone/>
            </a:pPr>
            <a:r>
              <a:rPr lang="en"/>
              <a:t>The low-frequency attack uses the discrete cosine transform, or DCT. This represents a perturbation using patterns that vary at different spatial scales. Low-frequency patterns describe smooth, broad changes.</a:t>
            </a:r>
            <a:endParaRPr/>
          </a:p>
          <a:p>
            <a:pPr indent="0" lvl="0" marL="0" rtl="0" algn="l">
              <a:lnSpc>
                <a:spcPct val="115000"/>
              </a:lnSpc>
              <a:spcBef>
                <a:spcPts val="1200"/>
              </a:spcBef>
              <a:spcAft>
                <a:spcPts val="0"/>
              </a:spcAft>
              <a:buClr>
                <a:schemeClr val="dk1"/>
              </a:buClr>
              <a:buSzPts val="1100"/>
              <a:buFont typeface="Arial"/>
              <a:buNone/>
            </a:pPr>
            <a:r>
              <a:rPr lang="en"/>
              <a:t>I retain an eight-by-eight block of coefficients in each color channel and transform the perturbation back into image space. The projection keeps 64 of the 1,024 coefficients per channel.</a:t>
            </a:r>
            <a:endParaRPr/>
          </a:p>
          <a:p>
            <a:pPr indent="0" lvl="0" marL="0" rtl="0" algn="l">
              <a:lnSpc>
                <a:spcPct val="115000"/>
              </a:lnSpc>
              <a:spcBef>
                <a:spcPts val="1200"/>
              </a:spcBef>
              <a:spcAft>
                <a:spcPts val="0"/>
              </a:spcAft>
              <a:buClr>
                <a:schemeClr val="dk1"/>
              </a:buClr>
              <a:buSzPts val="1100"/>
              <a:buFont typeface="Arial"/>
              <a:buNone/>
            </a:pPr>
            <a:r>
              <a:rPr lang="en"/>
              <a:t>Both attacks obey the same maximum pixel-change budget. The frequency mask restricts the patterns available to the low-frequency attack.</a:t>
            </a:r>
            <a:endParaRPr/>
          </a:p>
          <a:p>
            <a:pPr indent="0" lvl="0" marL="0" rtl="0" algn="l">
              <a:lnSpc>
                <a:spcPct val="115000"/>
              </a:lnSpc>
              <a:spcBef>
                <a:spcPts val="1200"/>
              </a:spcBef>
              <a:spcAft>
                <a:spcPts val="0"/>
              </a:spcAft>
              <a:buClr>
                <a:schemeClr val="dk1"/>
              </a:buClr>
              <a:buSzPts val="1100"/>
              <a:buFont typeface="Arial"/>
              <a:buNone/>
            </a:pPr>
            <a:r>
              <a:rPr lang="en"/>
              <a:t>The table shows the three training conditions. Mixed-domain training makes a fresh random choice each epoch, so it does not strictly alternate or guarantee exactly equal totals.</a:t>
            </a:r>
            <a:endParaRPr/>
          </a:p>
          <a:p>
            <a:pPr indent="0" lvl="0" marL="0" rtl="0" algn="l">
              <a:lnSpc>
                <a:spcPct val="115000"/>
              </a:lnSpc>
              <a:spcBef>
                <a:spcPts val="1200"/>
              </a:spcBef>
              <a:spcAft>
                <a:spcPts val="1200"/>
              </a:spcAft>
              <a:buNone/>
            </a:pPr>
            <a:r>
              <a:rPr lang="en"/>
              <a:t>One implementation detail is that clipping the final image can introduce some higher-frequency content. Also, the attacks use different update rules, so this comparison does not isolate frequency restriction alone.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fb94eb41cd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fb94eb41cd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All three conditions use the same model, dataset, optimizer, training schedule, and perturbation budget.</a:t>
            </a:r>
            <a:endParaRPr/>
          </a:p>
          <a:p>
            <a:pPr indent="0" lvl="0" marL="0" rtl="0" algn="l">
              <a:lnSpc>
                <a:spcPct val="115000"/>
              </a:lnSpc>
              <a:spcBef>
                <a:spcPts val="1200"/>
              </a:spcBef>
              <a:spcAft>
                <a:spcPts val="0"/>
              </a:spcAft>
              <a:buClr>
                <a:schemeClr val="dk1"/>
              </a:buClr>
              <a:buSzPts val="1100"/>
              <a:buFont typeface="Arial"/>
              <a:buNone/>
            </a:pPr>
            <a:r>
              <a:rPr lang="en"/>
              <a:t>I ran five seeds per condition, giving fifteen full training runs. Each run lasted two hundred epochs, with a checkpoint saved every five epochs.</a:t>
            </a:r>
            <a:endParaRPr/>
          </a:p>
          <a:p>
            <a:pPr indent="0" lvl="0" marL="0" rtl="0" algn="l">
              <a:lnSpc>
                <a:spcPct val="115000"/>
              </a:lnSpc>
              <a:spcBef>
                <a:spcPts val="1200"/>
              </a:spcBef>
              <a:spcAft>
                <a:spcPts val="0"/>
              </a:spcAft>
              <a:buClr>
                <a:schemeClr val="dk1"/>
              </a:buClr>
              <a:buSzPts val="1100"/>
              <a:buFont typeface="Arial"/>
              <a:buNone/>
            </a:pPr>
            <a:r>
              <a:rPr lang="en"/>
              <a:t>I evaluated every checkpoint on all ten thousand test images using twenty-step attacks.</a:t>
            </a:r>
            <a:endParaRPr/>
          </a:p>
          <a:p>
            <a:pPr indent="0" lvl="0" marL="0" rtl="0" algn="l">
              <a:lnSpc>
                <a:spcPct val="115000"/>
              </a:lnSpc>
              <a:spcBef>
                <a:spcPts val="1200"/>
              </a:spcBef>
              <a:spcAft>
                <a:spcPts val="0"/>
              </a:spcAft>
              <a:buClr>
                <a:schemeClr val="dk1"/>
              </a:buClr>
              <a:buSzPts val="1100"/>
              <a:buFont typeface="Arial"/>
              <a:buNone/>
            </a:pPr>
            <a:r>
              <a:rPr lang="en"/>
              <a:t>There are four accuracy measurements. Clean accuracy uses the original images. Pixel and low-frequency accuracy use their respective attacks. Joint accuracy counts an image as correct only when the model correctly classifies both separately attacked versions.</a:t>
            </a:r>
            <a:endParaRPr/>
          </a:p>
          <a:p>
            <a:pPr indent="0" lvl="0" marL="0" rtl="0" algn="l">
              <a:lnSpc>
                <a:spcPct val="115000"/>
              </a:lnSpc>
              <a:spcBef>
                <a:spcPts val="1200"/>
              </a:spcBef>
              <a:spcAft>
                <a:spcPts val="0"/>
              </a:spcAft>
              <a:buClr>
                <a:schemeClr val="dk1"/>
              </a:buClr>
              <a:buSzPts val="1100"/>
              <a:buFont typeface="Arial"/>
              <a:buNone/>
            </a:pPr>
            <a:r>
              <a:rPr lang="en"/>
              <a:t>For example, if it handles the low-frequency version but fails on the pixel version, that image fails the joint metric.</a:t>
            </a:r>
            <a:endParaRPr/>
          </a:p>
          <a:p>
            <a:pPr indent="0" lvl="0" marL="0" rtl="0" algn="l">
              <a:lnSpc>
                <a:spcPct val="115000"/>
              </a:lnSpc>
              <a:spcBef>
                <a:spcPts val="1200"/>
              </a:spcBef>
              <a:spcAft>
                <a:spcPts val="1200"/>
              </a:spcAft>
              <a:buNone/>
            </a:pPr>
            <a:r>
              <a:rPr lang="en"/>
              <a:t>The plots report averages across five seeds, with shaded bands showing standard deviation. I compare when accuracy peaks and how far it falls by epoch two hundred. Those peaks are descriptive test-set results, rather than checkpoints selected through validation.</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fb5d9673d8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fb5d9673d8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First, the pixel-only control reproduces the robust-overfitting pattern.</a:t>
            </a:r>
            <a:endParaRPr/>
          </a:p>
          <a:p>
            <a:pPr indent="0" lvl="0" marL="0" rtl="0" algn="l">
              <a:lnSpc>
                <a:spcPct val="115000"/>
              </a:lnSpc>
              <a:spcBef>
                <a:spcPts val="1200"/>
              </a:spcBef>
              <a:spcAft>
                <a:spcPts val="0"/>
              </a:spcAft>
              <a:buClr>
                <a:schemeClr val="dk1"/>
              </a:buClr>
              <a:buSzPts val="1100"/>
              <a:buFont typeface="Arial"/>
              <a:buNone/>
            </a:pPr>
            <a:r>
              <a:rPr lang="en"/>
              <a:t>On the left, pixel-PGD-20 accuracy reaches 51.22 percent at epoch 105, then falls to 42.66 percent by epoch two hundred. That is a decline of 8.56 percentage points.</a:t>
            </a:r>
            <a:endParaRPr/>
          </a:p>
          <a:p>
            <a:pPr indent="0" lvl="0" marL="0" rtl="0" algn="l">
              <a:lnSpc>
                <a:spcPct val="115000"/>
              </a:lnSpc>
              <a:spcBef>
                <a:spcPts val="1200"/>
              </a:spcBef>
              <a:spcAft>
                <a:spcPts val="0"/>
              </a:spcAft>
              <a:buClr>
                <a:schemeClr val="dk1"/>
              </a:buClr>
              <a:buSzPts val="1100"/>
              <a:buFont typeface="Arial"/>
              <a:buNone/>
            </a:pPr>
            <a:r>
              <a:rPr lang="en"/>
              <a:t>This timing is consistent across the runs: all five seeds reach their individual pixel-accuracy peak at epoch 105.</a:t>
            </a:r>
            <a:endParaRPr/>
          </a:p>
          <a:p>
            <a:pPr indent="0" lvl="0" marL="0" rtl="0" algn="l">
              <a:lnSpc>
                <a:spcPct val="115000"/>
              </a:lnSpc>
              <a:spcBef>
                <a:spcPts val="1200"/>
              </a:spcBef>
              <a:spcAft>
                <a:spcPts val="0"/>
              </a:spcAft>
              <a:buClr>
                <a:schemeClr val="dk1"/>
              </a:buClr>
              <a:buSzPts val="1100"/>
              <a:buFont typeface="Arial"/>
              <a:buNone/>
            </a:pPr>
            <a:r>
              <a:rPr lang="en"/>
              <a:t>The loss plot on the right supports the same picture. Pixel robust loss increases from about 1.29 at epoch 105 to 3.22 at the final checkpoint.</a:t>
            </a:r>
            <a:endParaRPr/>
          </a:p>
          <a:p>
            <a:pPr indent="0" lvl="0" marL="0" rtl="0" algn="l">
              <a:lnSpc>
                <a:spcPct val="115000"/>
              </a:lnSpc>
              <a:spcBef>
                <a:spcPts val="1200"/>
              </a:spcBef>
              <a:spcAft>
                <a:spcPts val="0"/>
              </a:spcAft>
              <a:buClr>
                <a:schemeClr val="dk1"/>
              </a:buClr>
              <a:buSzPts val="1100"/>
              <a:buFont typeface="Arial"/>
              <a:buNone/>
            </a:pPr>
            <a:r>
              <a:rPr lang="en"/>
              <a:t>You may notice that the pixel and joint accuracy curves almost completely overlap. Under this evaluation, the pixel attack accounts for essentially all the failures captured by the joint metric.</a:t>
            </a:r>
            <a:endParaRPr/>
          </a:p>
          <a:p>
            <a:pPr indent="0" lvl="0" marL="0" rtl="0" algn="l">
              <a:lnSpc>
                <a:spcPct val="115000"/>
              </a:lnSpc>
              <a:spcBef>
                <a:spcPts val="1200"/>
              </a:spcBef>
              <a:spcAft>
                <a:spcPts val="1200"/>
              </a:spcAft>
              <a:buNone/>
            </a:pPr>
            <a:r>
              <a:rPr lang="en"/>
              <a:t>So the control establishes the expected pattern. Next, what changes when training uses only the low-frequency attack?</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f4c31c5764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f4c31c5764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The low-frequency-only condition gives a very different result.</a:t>
            </a:r>
            <a:endParaRPr/>
          </a:p>
          <a:p>
            <a:pPr indent="0" lvl="0" marL="0" rtl="0" algn="l">
              <a:lnSpc>
                <a:spcPct val="115000"/>
              </a:lnSpc>
              <a:spcBef>
                <a:spcPts val="1200"/>
              </a:spcBef>
              <a:spcAft>
                <a:spcPts val="0"/>
              </a:spcAft>
              <a:buClr>
                <a:schemeClr val="dk1"/>
              </a:buClr>
              <a:buSzPts val="1100"/>
              <a:buFont typeface="Arial"/>
              <a:buNone/>
            </a:pPr>
            <a:r>
              <a:rPr lang="en"/>
              <a:t>Final clean accuracy is 94.28 percent, and accuracy against the low-frequency attack is 92.70 percent. Its low-frequency accuracy barely changes between the peak and final checkpoint.</a:t>
            </a:r>
            <a:endParaRPr/>
          </a:p>
          <a:p>
            <a:pPr indent="0" lvl="0" marL="0" rtl="0" algn="l">
              <a:lnSpc>
                <a:spcPct val="115000"/>
              </a:lnSpc>
              <a:spcBef>
                <a:spcPts val="1200"/>
              </a:spcBef>
              <a:spcAft>
                <a:spcPts val="0"/>
              </a:spcAft>
              <a:buClr>
                <a:schemeClr val="dk1"/>
              </a:buClr>
              <a:buSzPts val="1100"/>
              <a:buFont typeface="Arial"/>
              <a:buNone/>
            </a:pPr>
            <a:r>
              <a:rPr lang="en"/>
              <a:t>But look at the pixel and joint curves along the bottom. Both are zero at every evaluated checkpoint, for every seed.</a:t>
            </a:r>
            <a:endParaRPr/>
          </a:p>
          <a:p>
            <a:pPr indent="0" lvl="0" marL="0" rtl="0" algn="l">
              <a:lnSpc>
                <a:spcPct val="115000"/>
              </a:lnSpc>
              <a:spcBef>
                <a:spcPts val="1200"/>
              </a:spcBef>
              <a:spcAft>
                <a:spcPts val="0"/>
              </a:spcAft>
              <a:buClr>
                <a:schemeClr val="dk1"/>
              </a:buClr>
              <a:buSzPts val="1100"/>
              <a:buFont typeface="Arial"/>
              <a:buNone/>
            </a:pPr>
            <a:r>
              <a:rPr lang="en"/>
              <a:t>So the model performs well against the restricted attack it trained on, while remaining vulnerable to the pixel attack.</a:t>
            </a:r>
            <a:endParaRPr/>
          </a:p>
          <a:p>
            <a:pPr indent="0" lvl="0" marL="0" rtl="0" algn="l">
              <a:lnSpc>
                <a:spcPct val="115000"/>
              </a:lnSpc>
              <a:spcBef>
                <a:spcPts val="1200"/>
              </a:spcBef>
              <a:spcAft>
                <a:spcPts val="0"/>
              </a:spcAft>
              <a:buClr>
                <a:schemeClr val="dk1"/>
              </a:buClr>
              <a:buSzPts val="1100"/>
              <a:buFont typeface="Arial"/>
              <a:buNone/>
            </a:pPr>
            <a:r>
              <a:rPr lang="en"/>
              <a:t>This does not establish that low-frequency training solves robust overfitting. It shows that the measured outcome depends strongly on which attack we use for evaluation.</a:t>
            </a:r>
            <a:endParaRPr/>
          </a:p>
          <a:p>
            <a:pPr indent="0" lvl="0" marL="0" rtl="0" algn="l">
              <a:lnSpc>
                <a:spcPct val="115000"/>
              </a:lnSpc>
              <a:spcBef>
                <a:spcPts val="1200"/>
              </a:spcBef>
              <a:spcAft>
                <a:spcPts val="0"/>
              </a:spcAft>
              <a:buClr>
                <a:schemeClr val="dk1"/>
              </a:buClr>
              <a:buSzPts val="1100"/>
              <a:buFont typeface="Arial"/>
              <a:buNone/>
            </a:pPr>
            <a:r>
              <a:rPr lang="en"/>
              <a:t>Also, stable accuracy does not mean every measurement stays stable. Low-frequency test loss rises after its minimum, and the high accuracy still needs stronger low-frequency attack checks.</a:t>
            </a:r>
            <a:endParaRPr/>
          </a:p>
          <a:p>
            <a:pPr indent="0" lvl="0" marL="0" rtl="0" algn="l">
              <a:lnSpc>
                <a:spcPct val="115000"/>
              </a:lnSpc>
              <a:spcBef>
                <a:spcPts val="1200"/>
              </a:spcBef>
              <a:spcAft>
                <a:spcPts val="1200"/>
              </a:spcAft>
              <a:buNone/>
            </a:pPr>
            <a:r>
              <a:rPr lang="en"/>
              <a:t>That leads to the next question: what happens if training uses both attacks?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fb5d9673d8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fb5d9673d8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Here are the overall results when the training attack is randomly selected each epoch.</a:t>
            </a:r>
            <a:endParaRPr/>
          </a:p>
          <a:p>
            <a:pPr indent="0" lvl="0" marL="0" rtl="0" algn="l">
              <a:lnSpc>
                <a:spcPct val="115000"/>
              </a:lnSpc>
              <a:spcBef>
                <a:spcPts val="1200"/>
              </a:spcBef>
              <a:spcAft>
                <a:spcPts val="0"/>
              </a:spcAft>
              <a:buClr>
                <a:schemeClr val="dk1"/>
              </a:buClr>
              <a:buSzPts val="1100"/>
              <a:buFont typeface="Arial"/>
              <a:buNone/>
            </a:pPr>
            <a:r>
              <a:rPr lang="en"/>
              <a:t>Pixel and joint accuracy fluctuate considerably. The mean joint accuracy peaks at 40.79 percent at epoch 85 and ends at 19.33 percent.</a:t>
            </a:r>
            <a:endParaRPr/>
          </a:p>
          <a:p>
            <a:pPr indent="0" lvl="0" marL="0" rtl="0" algn="l">
              <a:lnSpc>
                <a:spcPct val="115000"/>
              </a:lnSpc>
              <a:spcBef>
                <a:spcPts val="1200"/>
              </a:spcBef>
              <a:spcAft>
                <a:spcPts val="0"/>
              </a:spcAft>
              <a:buClr>
                <a:schemeClr val="dk1"/>
              </a:buClr>
              <a:buSzPts val="1100"/>
              <a:buFont typeface="Arial"/>
              <a:buNone/>
            </a:pPr>
            <a:r>
              <a:rPr lang="en"/>
              <a:t>At first, we might interpret that difference as a large robust-overfitting gap. But there is another factor: the most recent training attack changes across checkpoints and across seeds.</a:t>
            </a:r>
            <a:endParaRPr/>
          </a:p>
          <a:p>
            <a:pPr indent="0" lvl="0" marL="0" rtl="0" algn="l">
              <a:lnSpc>
                <a:spcPct val="115000"/>
              </a:lnSpc>
              <a:spcBef>
                <a:spcPts val="1200"/>
              </a:spcBef>
              <a:spcAft>
                <a:spcPts val="0"/>
              </a:spcAft>
              <a:buClr>
                <a:schemeClr val="dk1"/>
              </a:buClr>
              <a:buSzPts val="1100"/>
              <a:buFont typeface="Arial"/>
              <a:buNone/>
            </a:pPr>
            <a:r>
              <a:rPr lang="en"/>
              <a:t>At epoch 85, all five seeds happened to use pixel training. At epoch two hundred, only one did.</a:t>
            </a:r>
            <a:endParaRPr/>
          </a:p>
          <a:p>
            <a:pPr indent="0" lvl="0" marL="0" rtl="0" algn="l">
              <a:lnSpc>
                <a:spcPct val="115000"/>
              </a:lnSpc>
              <a:spcBef>
                <a:spcPts val="1200"/>
              </a:spcBef>
              <a:spcAft>
                <a:spcPts val="0"/>
              </a:spcAft>
              <a:buClr>
                <a:schemeClr val="dk1"/>
              </a:buClr>
              <a:buSzPts val="1100"/>
              <a:buFont typeface="Arial"/>
              <a:buNone/>
            </a:pPr>
            <a:r>
              <a:rPr lang="en"/>
              <a:t>That means the comparison mixes together checkpoints reached under different recent training conditions. We cannot attribute the entire decline to robust overfitting.</a:t>
            </a:r>
            <a:endParaRPr/>
          </a:p>
          <a:p>
            <a:pPr indent="0" lvl="0" marL="0" rtl="0" algn="l">
              <a:lnSpc>
                <a:spcPct val="115000"/>
              </a:lnSpc>
              <a:spcBef>
                <a:spcPts val="1200"/>
              </a:spcBef>
              <a:spcAft>
                <a:spcPts val="1200"/>
              </a:spcAft>
              <a:buNone/>
            </a:pPr>
            <a:r>
              <a:rPr lang="en"/>
              <a:t>To understand that pattern better, I grouped the checkpoints by the attack used in their last training epoch.</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fb5d9673d8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3fb5d9673d8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As we can see,</a:t>
            </a:r>
            <a:r>
              <a:rPr lang="en"/>
              <a:t> the pattern is much clearer.</a:t>
            </a:r>
            <a:endParaRPr/>
          </a:p>
          <a:p>
            <a:pPr indent="0" lvl="0" marL="0" rtl="0" algn="l">
              <a:lnSpc>
                <a:spcPct val="115000"/>
              </a:lnSpc>
              <a:spcBef>
                <a:spcPts val="1200"/>
              </a:spcBef>
              <a:spcAft>
                <a:spcPts val="0"/>
              </a:spcAft>
              <a:buClr>
                <a:schemeClr val="dk1"/>
              </a:buClr>
              <a:buSzPts val="1100"/>
              <a:buFont typeface="Arial"/>
              <a:buNone/>
            </a:pPr>
            <a:r>
              <a:rPr lang="en"/>
              <a:t>The colors here identify the last training attack. Blue means the checkpoint follows a pixel-training epoch, and orange means it follows a low-frequency-training epoch.</a:t>
            </a:r>
            <a:endParaRPr/>
          </a:p>
          <a:p>
            <a:pPr indent="0" lvl="0" marL="0" rtl="0" algn="l">
              <a:lnSpc>
                <a:spcPct val="115000"/>
              </a:lnSpc>
              <a:spcBef>
                <a:spcPts val="1200"/>
              </a:spcBef>
              <a:spcAft>
                <a:spcPts val="0"/>
              </a:spcAft>
              <a:buClr>
                <a:schemeClr val="dk1"/>
              </a:buClr>
              <a:buSzPts val="1100"/>
              <a:buFont typeface="Arial"/>
              <a:buNone/>
            </a:pPr>
            <a:r>
              <a:rPr lang="en"/>
              <a:t>On the left, pixel accuracy is much higher after pixel training. Across all saved seed-checkpoint observations, it averages 42.36 percent after pixel epochs and 3.53 percent after low-frequency epochs.</a:t>
            </a:r>
            <a:endParaRPr/>
          </a:p>
          <a:p>
            <a:pPr indent="0" lvl="0" marL="0" rtl="0" algn="l">
              <a:lnSpc>
                <a:spcPct val="115000"/>
              </a:lnSpc>
              <a:spcBef>
                <a:spcPts val="1200"/>
              </a:spcBef>
              <a:spcAft>
                <a:spcPts val="0"/>
              </a:spcAft>
              <a:buClr>
                <a:schemeClr val="dk1"/>
              </a:buClr>
              <a:buSzPts val="1100"/>
              <a:buFont typeface="Arial"/>
              <a:buNone/>
            </a:pPr>
            <a:r>
              <a:rPr lang="en"/>
              <a:t>On the right, low-frequency accuracy shows the opposite ordering: it is higher after low-frequency training.</a:t>
            </a:r>
            <a:endParaRPr/>
          </a:p>
          <a:p>
            <a:pPr indent="0" lvl="0" marL="0" rtl="0" algn="l">
              <a:lnSpc>
                <a:spcPct val="115000"/>
              </a:lnSpc>
              <a:spcBef>
                <a:spcPts val="1200"/>
              </a:spcBef>
              <a:spcAft>
                <a:spcPts val="0"/>
              </a:spcAft>
              <a:buClr>
                <a:schemeClr val="dk1"/>
              </a:buClr>
              <a:buSzPts val="1100"/>
              <a:buFont typeface="Arial"/>
              <a:buNone/>
            </a:pPr>
            <a:r>
              <a:rPr lang="en"/>
              <a:t>The difference is asymmetric. Pixel accuracy changes much more dramatically than low-frequency accuracy.</a:t>
            </a:r>
            <a:endParaRPr/>
          </a:p>
          <a:p>
            <a:pPr indent="0" lvl="0" marL="0" rtl="0" algn="l">
              <a:lnSpc>
                <a:spcPct val="115000"/>
              </a:lnSpc>
              <a:spcBef>
                <a:spcPts val="1200"/>
              </a:spcBef>
              <a:spcAft>
                <a:spcPts val="0"/>
              </a:spcAft>
              <a:buClr>
                <a:schemeClr val="dk1"/>
              </a:buClr>
              <a:buSzPts val="1100"/>
              <a:buFont typeface="Arial"/>
              <a:buNone/>
            </a:pPr>
            <a:r>
              <a:rPr lang="en"/>
              <a:t>Each point averages whichever seeds belong to that group at that epoch, so these lines do not follow two fixed groups of models.</a:t>
            </a:r>
            <a:endParaRPr/>
          </a:p>
          <a:p>
            <a:pPr indent="0" lvl="0" marL="0" rtl="0" algn="l">
              <a:lnSpc>
                <a:spcPct val="115000"/>
              </a:lnSpc>
              <a:spcBef>
                <a:spcPts val="1200"/>
              </a:spcBef>
              <a:spcAft>
                <a:spcPts val="1200"/>
              </a:spcAft>
              <a:buNone/>
            </a:pPr>
            <a:r>
              <a:rPr lang="en"/>
              <a:t>The results show a strong association with the most recent training attack. This epoch-wise mixing method did not maintain stable robustness against both evaluated attacks.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f4abb14d47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f4abb14d47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So, what did we learn?</a:t>
            </a:r>
            <a:endParaRPr/>
          </a:p>
          <a:p>
            <a:pPr indent="0" lvl="0" marL="0" rtl="0" algn="l">
              <a:lnSpc>
                <a:spcPct val="115000"/>
              </a:lnSpc>
              <a:spcBef>
                <a:spcPts val="1200"/>
              </a:spcBef>
              <a:spcAft>
                <a:spcPts val="0"/>
              </a:spcAft>
              <a:buNone/>
            </a:pPr>
            <a:r>
              <a:rPr lang="en"/>
              <a:t>First, the pixel-only control reproduced robust overfitting across all five seeds.</a:t>
            </a:r>
            <a:endParaRPr/>
          </a:p>
          <a:p>
            <a:pPr indent="0" lvl="0" marL="0" rtl="0" algn="l">
              <a:lnSpc>
                <a:spcPct val="115000"/>
              </a:lnSpc>
              <a:spcBef>
                <a:spcPts val="1200"/>
              </a:spcBef>
              <a:spcAft>
                <a:spcPts val="0"/>
              </a:spcAft>
              <a:buNone/>
            </a:pPr>
            <a:r>
              <a:rPr lang="en"/>
              <a:t>Second, low-frequency-only training gave high accuracy against its matched attack, but that did not transfer to pixel PGD.</a:t>
            </a:r>
            <a:endParaRPr/>
          </a:p>
          <a:p>
            <a:pPr indent="0" lvl="0" marL="0" rtl="0" algn="l">
              <a:lnSpc>
                <a:spcPct val="115000"/>
              </a:lnSpc>
              <a:spcBef>
                <a:spcPts val="1200"/>
              </a:spcBef>
              <a:spcAft>
                <a:spcPts val="0"/>
              </a:spcAft>
              <a:buNone/>
            </a:pPr>
            <a:r>
              <a:rPr lang="en"/>
              <a:t>Third, randomly choosing the training attack each epoch produced robustness that was strongly associated with the latest training domain.</a:t>
            </a:r>
            <a:endParaRPr/>
          </a:p>
          <a:p>
            <a:pPr indent="0" lvl="0" marL="0" rtl="0" algn="l">
              <a:lnSpc>
                <a:spcPct val="115000"/>
              </a:lnSpc>
              <a:spcBef>
                <a:spcPts val="1200"/>
              </a:spcBef>
              <a:spcAft>
                <a:spcPts val="0"/>
              </a:spcAft>
              <a:buNone/>
            </a:pPr>
            <a:r>
              <a:rPr lang="en"/>
              <a:t>These findings support the descriptive hypothesis that the training attack changes the robustness trajectory. They do not show that epoch-wise mixing reduces robust overfitting, and they do not establish a memorization or forgetting mechanism.</a:t>
            </a:r>
            <a:endParaRPr/>
          </a:p>
          <a:p>
            <a:pPr indent="0" lvl="0" marL="0" rtl="0" algn="l">
              <a:lnSpc>
                <a:spcPct val="115000"/>
              </a:lnSpc>
              <a:spcBef>
                <a:spcPts val="1200"/>
              </a:spcBef>
              <a:spcAft>
                <a:spcPts val="0"/>
              </a:spcAft>
              <a:buNone/>
            </a:pPr>
            <a:r>
              <a:rPr lang="en"/>
              <a:t>There are also limits to the evaluation. The main results use single-start PGD-20. A stronger pixel-attack diagnostic covered only two control checkpoints on a small subset, so it does not validate all three conditions.</a:t>
            </a:r>
            <a:endParaRPr/>
          </a:p>
          <a:p>
            <a:pPr indent="0" lvl="0" marL="0" rtl="0" algn="l">
              <a:lnSpc>
                <a:spcPct val="115000"/>
              </a:lnSpc>
              <a:spcBef>
                <a:spcPts val="1200"/>
              </a:spcBef>
              <a:spcAft>
                <a:spcPts val="1200"/>
              </a:spcAft>
              <a:buNone/>
            </a:pPr>
            <a:r>
              <a:rPr lang="en"/>
              <a:t>The next experiment would compare finer-grained mixing within batches or individual examples, combined with validation-based checkpoint selection and stronger attack evaluation.</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fb5d9673d8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3fb5d9673d8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These are the main references behind the attack methods, robust-overfitting background, model, and dataset.</a:t>
            </a:r>
            <a:endParaRPr/>
          </a:p>
          <a:p>
            <a:pPr indent="0" lvl="0" marL="0" rtl="0" algn="l">
              <a:lnSpc>
                <a:spcPct val="115000"/>
              </a:lnSpc>
              <a:spcBef>
                <a:spcPts val="1200"/>
              </a:spcBef>
              <a:spcAft>
                <a:spcPts val="1200"/>
              </a:spcAft>
              <a:buNone/>
            </a:pPr>
            <a:r>
              <a:rPr lang="en"/>
              <a:t>The full bibliography, report, source code, and evaluation results are available in the project repository.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f4c31c5764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f4c31c5764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Before I finish, I’d like to thank Dr. Nicholas Tran for mentoring me throughout this project and helping me think through the research design, analysis, and presentation.</a:t>
            </a:r>
            <a:endParaRPr/>
          </a:p>
          <a:p>
            <a:pPr indent="0" lvl="0" marL="0" rtl="0" algn="l">
              <a:lnSpc>
                <a:spcPct val="115000"/>
              </a:lnSpc>
              <a:spcBef>
                <a:spcPts val="1200"/>
              </a:spcBef>
              <a:spcAft>
                <a:spcPts val="1200"/>
              </a:spcAft>
              <a:buNone/>
            </a:pPr>
            <a:r>
              <a:rPr lang="en"/>
              <a:t>Thank you for listening! I’m happy to take questions.</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github.com/ItsKaiwenDu/Robust-Overfitting" TargetMode="Externa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hyperlink" Target="http://github.com/ItsKaiwenDu/Robust-Overfittin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1067650"/>
            <a:ext cx="8520600" cy="2052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SzPts val="990"/>
              <a:buNone/>
            </a:pPr>
            <a:r>
              <a:rPr lang="en" sz="3600"/>
              <a:t>Robust Overfitting Across Pixel-Space and Low-Frequency Adversarial Training</a:t>
            </a:r>
            <a:endParaRPr sz="3600"/>
          </a:p>
        </p:txBody>
      </p:sp>
      <p:sp>
        <p:nvSpPr>
          <p:cNvPr id="55" name="Google Shape;55;p13"/>
          <p:cNvSpPr txBox="1"/>
          <p:nvPr>
            <p:ph idx="1" type="subTitle"/>
          </p:nvPr>
        </p:nvSpPr>
        <p:spPr>
          <a:xfrm>
            <a:off x="311700" y="2914650"/>
            <a:ext cx="8520600" cy="1581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Clr>
                <a:schemeClr val="dk1"/>
              </a:buClr>
              <a:buSzPts val="1100"/>
              <a:buFont typeface="Arial"/>
              <a:buNone/>
            </a:pPr>
            <a:r>
              <a:rPr lang="en" sz="2000"/>
              <a:t>Kaiwen Du</a:t>
            </a:r>
            <a:endParaRPr sz="2000"/>
          </a:p>
          <a:p>
            <a:pPr indent="0" lvl="0" marL="0" rtl="0" algn="ctr">
              <a:spcBef>
                <a:spcPts val="0"/>
              </a:spcBef>
              <a:spcAft>
                <a:spcPts val="0"/>
              </a:spcAft>
              <a:buClr>
                <a:schemeClr val="dk1"/>
              </a:buClr>
              <a:buSzPts val="1100"/>
              <a:buFont typeface="Arial"/>
              <a:buNone/>
            </a:pPr>
            <a:r>
              <a:rPr lang="en" sz="2000"/>
              <a:t>Department of Mathematics and Computer Science</a:t>
            </a:r>
            <a:endParaRPr sz="2000"/>
          </a:p>
          <a:p>
            <a:pPr indent="0" lvl="0" marL="0" rtl="0" algn="ctr">
              <a:spcBef>
                <a:spcPts val="0"/>
              </a:spcBef>
              <a:spcAft>
                <a:spcPts val="0"/>
              </a:spcAft>
              <a:buClr>
                <a:schemeClr val="dk1"/>
              </a:buClr>
              <a:buSzPts val="1100"/>
              <a:buFont typeface="Arial"/>
              <a:buNone/>
            </a:pPr>
            <a:r>
              <a:rPr lang="en" sz="2000"/>
              <a:t>Santa Clara University</a:t>
            </a:r>
            <a:endParaRPr sz="2000"/>
          </a:p>
          <a:p>
            <a:pPr indent="0" lvl="0" marL="0" rtl="0" algn="ctr">
              <a:spcBef>
                <a:spcPts val="0"/>
              </a:spcBef>
              <a:spcAft>
                <a:spcPts val="0"/>
              </a:spcAft>
              <a:buNone/>
            </a:pPr>
            <a:r>
              <a:rPr lang="en" sz="2000"/>
              <a:t>Summer 2026</a:t>
            </a:r>
            <a:endParaRPr sz="2000"/>
          </a:p>
        </p:txBody>
      </p:sp>
      <p:grpSp>
        <p:nvGrpSpPr>
          <p:cNvPr id="56" name="Google Shape;56;p13"/>
          <p:cNvGrpSpPr/>
          <p:nvPr/>
        </p:nvGrpSpPr>
        <p:grpSpPr>
          <a:xfrm>
            <a:off x="8414888" y="169062"/>
            <a:ext cx="537556" cy="136576"/>
            <a:chOff x="2641350" y="846250"/>
            <a:chExt cx="413600" cy="105075"/>
          </a:xfrm>
        </p:grpSpPr>
        <p:sp>
          <p:nvSpPr>
            <p:cNvPr id="57" name="Google Shape;57;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 name="Google Shape;61;p13"/>
          <p:cNvGrpSpPr/>
          <p:nvPr/>
        </p:nvGrpSpPr>
        <p:grpSpPr>
          <a:xfrm rot="10800000">
            <a:off x="205788" y="4842962"/>
            <a:ext cx="537556" cy="136576"/>
            <a:chOff x="2641350" y="846250"/>
            <a:chExt cx="413600" cy="105075"/>
          </a:xfrm>
        </p:grpSpPr>
        <p:sp>
          <p:nvSpPr>
            <p:cNvPr id="62" name="Google Shape;62;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66" name="Google Shape;66;p13"/>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idx="4294967295"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Adversarial Example: Panda to Gibbon </a:t>
            </a:r>
            <a:r>
              <a:rPr lang="en" sz="1520"/>
              <a:t>(Goodfellow et al., 3)</a:t>
            </a:r>
            <a:endParaRPr sz="1520"/>
          </a:p>
        </p:txBody>
      </p:sp>
      <p:pic>
        <p:nvPicPr>
          <p:cNvPr id="72" name="Google Shape;72;p14" title="Screenshot 2026-07-10 at 8.54.43 PM.png"/>
          <p:cNvPicPr preferRelativeResize="0"/>
          <p:nvPr/>
        </p:nvPicPr>
        <p:blipFill>
          <a:blip r:embed="rId3">
            <a:alphaModFix/>
          </a:blip>
          <a:stretch>
            <a:fillRect/>
          </a:stretch>
        </p:blipFill>
        <p:spPr>
          <a:xfrm>
            <a:off x="1728960" y="2497231"/>
            <a:ext cx="5785748" cy="2223296"/>
          </a:xfrm>
          <a:prstGeom prst="rect">
            <a:avLst/>
          </a:prstGeom>
          <a:noFill/>
          <a:ln>
            <a:noFill/>
          </a:ln>
        </p:spPr>
      </p:pic>
      <p:sp>
        <p:nvSpPr>
          <p:cNvPr id="73" name="Google Shape;73;p14"/>
          <p:cNvSpPr txBox="1"/>
          <p:nvPr>
            <p:ph idx="4294967295" type="body"/>
          </p:nvPr>
        </p:nvSpPr>
        <p:spPr>
          <a:xfrm>
            <a:off x="311700" y="1106075"/>
            <a:ext cx="7239600" cy="1171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300"/>
              <a:t>A small, deliberately chosen change to an image can cause a model to misclassify it.</a:t>
            </a:r>
            <a:endParaRPr sz="1300"/>
          </a:p>
          <a:p>
            <a:pPr indent="-311150" lvl="0" marL="457200" rtl="0" algn="l">
              <a:lnSpc>
                <a:spcPct val="150000"/>
              </a:lnSpc>
              <a:spcBef>
                <a:spcPts val="0"/>
              </a:spcBef>
              <a:spcAft>
                <a:spcPts val="0"/>
              </a:spcAft>
              <a:buSzPts val="1300"/>
              <a:buAutoNum type="arabicPeriod"/>
            </a:pPr>
            <a:r>
              <a:rPr b="1" lang="en" sz="1300"/>
              <a:t>Original image:</a:t>
            </a:r>
            <a:r>
              <a:rPr lang="en" sz="1300"/>
              <a:t> Panda, 57.7% confidence</a:t>
            </a:r>
            <a:endParaRPr sz="1300"/>
          </a:p>
          <a:p>
            <a:pPr indent="-311150" lvl="0" marL="457200" rtl="0" algn="l">
              <a:lnSpc>
                <a:spcPct val="150000"/>
              </a:lnSpc>
              <a:spcBef>
                <a:spcPts val="0"/>
              </a:spcBef>
              <a:spcAft>
                <a:spcPts val="0"/>
              </a:spcAft>
              <a:buSzPts val="1300"/>
              <a:buAutoNum type="arabicPeriod"/>
            </a:pPr>
            <a:r>
              <a:rPr b="1" lang="en" sz="1300"/>
              <a:t>Perturbed image:</a:t>
            </a:r>
            <a:r>
              <a:rPr lang="en" sz="1300"/>
              <a:t> Gibbon, 99.3% confidence</a:t>
            </a:r>
            <a:endParaRPr sz="1300"/>
          </a:p>
          <a:p>
            <a:pPr indent="0" lvl="0" marL="0" rtl="0" algn="l">
              <a:lnSpc>
                <a:spcPct val="150000"/>
              </a:lnSpc>
              <a:spcBef>
                <a:spcPts val="0"/>
              </a:spcBef>
              <a:spcAft>
                <a:spcPts val="0"/>
              </a:spcAft>
              <a:buNone/>
            </a:pPr>
            <a:r>
              <a:rPr lang="en" sz="1300"/>
              <a:t>The images look nearly identical to us, but the model’s prediction changes.</a:t>
            </a:r>
            <a:endParaRPr sz="1300"/>
          </a:p>
        </p:txBody>
      </p:sp>
      <p:pic>
        <p:nvPicPr>
          <p:cNvPr id="74" name="Google Shape;74;p14"/>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grpSp>
        <p:nvGrpSpPr>
          <p:cNvPr id="75" name="Google Shape;75;p14"/>
          <p:cNvGrpSpPr/>
          <p:nvPr/>
        </p:nvGrpSpPr>
        <p:grpSpPr>
          <a:xfrm>
            <a:off x="8414888" y="169062"/>
            <a:ext cx="537556" cy="136576"/>
            <a:chOff x="2641350" y="846250"/>
            <a:chExt cx="413600" cy="105075"/>
          </a:xfrm>
        </p:grpSpPr>
        <p:sp>
          <p:nvSpPr>
            <p:cNvPr id="76" name="Google Shape;76;p1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1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 name="Google Shape;80;p14"/>
          <p:cNvGrpSpPr/>
          <p:nvPr/>
        </p:nvGrpSpPr>
        <p:grpSpPr>
          <a:xfrm rot="10800000">
            <a:off x="205788" y="4842962"/>
            <a:ext cx="537556" cy="136576"/>
            <a:chOff x="2641350" y="846250"/>
            <a:chExt cx="413600" cy="105075"/>
          </a:xfrm>
        </p:grpSpPr>
        <p:sp>
          <p:nvSpPr>
            <p:cNvPr id="81" name="Google Shape;81;p1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1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1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Generate Adversarial Images with FGSM</a:t>
            </a:r>
            <a:endParaRPr sz="2220"/>
          </a:p>
        </p:txBody>
      </p:sp>
      <p:sp>
        <p:nvSpPr>
          <p:cNvPr id="90" name="Google Shape;90;p15"/>
          <p:cNvSpPr txBox="1"/>
          <p:nvPr>
            <p:ph idx="1" type="body"/>
          </p:nvPr>
        </p:nvSpPr>
        <p:spPr>
          <a:xfrm>
            <a:off x="311700" y="1840675"/>
            <a:ext cx="8295300" cy="1125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300"/>
              <a:t>where </a:t>
            </a:r>
            <a:r>
              <a:rPr b="1" lang="en" sz="1300"/>
              <a:t>x</a:t>
            </a:r>
            <a:r>
              <a:rPr lang="en" sz="1300"/>
              <a:t>: clean image input,</a:t>
            </a:r>
            <a:endParaRPr sz="1300"/>
          </a:p>
          <a:p>
            <a:pPr indent="457200" lvl="0" marL="0" rtl="0" algn="l">
              <a:spcBef>
                <a:spcPts val="0"/>
              </a:spcBef>
              <a:spcAft>
                <a:spcPts val="0"/>
              </a:spcAft>
              <a:buNone/>
            </a:pPr>
            <a:r>
              <a:rPr b="1" lang="en" sz="1300"/>
              <a:t>ε</a:t>
            </a:r>
            <a:r>
              <a:rPr lang="en" sz="1300"/>
              <a:t>: size of allowed change,</a:t>
            </a:r>
            <a:endParaRPr sz="1300"/>
          </a:p>
          <a:p>
            <a:pPr indent="0" lvl="0" marL="457200" rtl="0" algn="l">
              <a:spcBef>
                <a:spcPts val="0"/>
              </a:spcBef>
              <a:spcAft>
                <a:spcPts val="0"/>
              </a:spcAft>
              <a:buClr>
                <a:schemeClr val="dk1"/>
              </a:buClr>
              <a:buSzPts val="1100"/>
              <a:buFont typeface="Arial"/>
              <a:buNone/>
            </a:pPr>
            <a:r>
              <a:rPr b="1" lang="en" sz="1300"/>
              <a:t>η</a:t>
            </a:r>
            <a:r>
              <a:rPr lang="en" sz="1300"/>
              <a:t>: the perturbation,</a:t>
            </a:r>
            <a:endParaRPr sz="1300"/>
          </a:p>
          <a:p>
            <a:pPr indent="0" lvl="0" marL="457200" rtl="0" algn="l">
              <a:spcBef>
                <a:spcPts val="0"/>
              </a:spcBef>
              <a:spcAft>
                <a:spcPts val="0"/>
              </a:spcAft>
              <a:buClr>
                <a:schemeClr val="dk1"/>
              </a:buClr>
              <a:buSzPts val="1100"/>
              <a:buFont typeface="Arial"/>
              <a:buNone/>
            </a:pPr>
            <a:r>
              <a:rPr b="1" lang="en" sz="1300"/>
              <a:t>x</a:t>
            </a:r>
            <a:r>
              <a:rPr b="1" lang="en" sz="1300"/>
              <a:t>̃</a:t>
            </a:r>
            <a:r>
              <a:rPr lang="en" sz="1300"/>
              <a:t>: adversarial image output.</a:t>
            </a:r>
            <a:endParaRPr sz="1300"/>
          </a:p>
        </p:txBody>
      </p:sp>
      <p:pic>
        <p:nvPicPr>
          <p:cNvPr id="91" name="Google Shape;91;p15" title="equation.png"/>
          <p:cNvPicPr preferRelativeResize="0"/>
          <p:nvPr/>
        </p:nvPicPr>
        <p:blipFill>
          <a:blip r:embed="rId3">
            <a:alphaModFix/>
          </a:blip>
          <a:stretch>
            <a:fillRect/>
          </a:stretch>
        </p:blipFill>
        <p:spPr>
          <a:xfrm>
            <a:off x="2314944" y="1348570"/>
            <a:ext cx="4514232" cy="266716"/>
          </a:xfrm>
          <a:prstGeom prst="rect">
            <a:avLst/>
          </a:prstGeom>
          <a:noFill/>
          <a:ln>
            <a:noFill/>
          </a:ln>
        </p:spPr>
      </p:pic>
      <p:sp>
        <p:nvSpPr>
          <p:cNvPr id="92" name="Google Shape;92;p15"/>
          <p:cNvSpPr/>
          <p:nvPr/>
        </p:nvSpPr>
        <p:spPr>
          <a:xfrm>
            <a:off x="2059351" y="1195588"/>
            <a:ext cx="5025300" cy="572700"/>
          </a:xfrm>
          <a:prstGeom prst="rect">
            <a:avLst/>
          </a:prstGeom>
          <a:noFill/>
          <a:ln cap="flat" cmpd="sng" w="19050">
            <a:solidFill>
              <a:schemeClr val="dk1"/>
            </a:solidFill>
            <a:prstDash val="solid"/>
            <a:round/>
            <a:headEnd len="sm" w="sm" type="none"/>
            <a:tailEnd len="sm" w="sm" type="none"/>
          </a:ln>
        </p:spPr>
        <p:txBody>
          <a:bodyPr anchorCtr="0" anchor="ctr" bIns="91400" lIns="91400" spcFirstLastPara="1" rIns="91400" wrap="square" tIns="91400">
            <a:noAutofit/>
          </a:bodyPr>
          <a:lstStyle/>
          <a:p>
            <a:pPr indent="0" lvl="0" marL="0" rtl="0" algn="ctr">
              <a:spcBef>
                <a:spcPts val="0"/>
              </a:spcBef>
              <a:spcAft>
                <a:spcPts val="0"/>
              </a:spcAft>
              <a:buNone/>
            </a:pPr>
            <a:r>
              <a:t/>
            </a:r>
            <a:endParaRPr sz="1400"/>
          </a:p>
        </p:txBody>
      </p:sp>
      <p:grpSp>
        <p:nvGrpSpPr>
          <p:cNvPr id="93" name="Google Shape;93;p15"/>
          <p:cNvGrpSpPr/>
          <p:nvPr/>
        </p:nvGrpSpPr>
        <p:grpSpPr>
          <a:xfrm rot="10800000">
            <a:off x="205788" y="4842962"/>
            <a:ext cx="537556" cy="136576"/>
            <a:chOff x="2641350" y="846250"/>
            <a:chExt cx="413600" cy="105075"/>
          </a:xfrm>
        </p:grpSpPr>
        <p:sp>
          <p:nvSpPr>
            <p:cNvPr id="94" name="Google Shape;94;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 name="Google Shape;98;p15"/>
          <p:cNvGrpSpPr/>
          <p:nvPr/>
        </p:nvGrpSpPr>
        <p:grpSpPr>
          <a:xfrm>
            <a:off x="8414888" y="169062"/>
            <a:ext cx="537556" cy="136576"/>
            <a:chOff x="2641350" y="846250"/>
            <a:chExt cx="413600" cy="105075"/>
          </a:xfrm>
        </p:grpSpPr>
        <p:sp>
          <p:nvSpPr>
            <p:cNvPr id="99" name="Google Shape;99;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103" name="Google Shape;103;p15"/>
          <p:cNvCxnSpPr/>
          <p:nvPr/>
        </p:nvCxnSpPr>
        <p:spPr>
          <a:xfrm>
            <a:off x="393963" y="3074925"/>
            <a:ext cx="8356200" cy="0"/>
          </a:xfrm>
          <a:prstGeom prst="straightConnector1">
            <a:avLst/>
          </a:prstGeom>
          <a:noFill/>
          <a:ln cap="flat" cmpd="sng" w="28575">
            <a:solidFill>
              <a:schemeClr val="dk2"/>
            </a:solidFill>
            <a:prstDash val="solid"/>
            <a:round/>
            <a:headEnd len="med" w="med" type="none"/>
            <a:tailEnd len="med" w="med" type="none"/>
          </a:ln>
        </p:spPr>
      </p:cxnSp>
      <p:sp>
        <p:nvSpPr>
          <p:cNvPr id="104" name="Google Shape;104;p15"/>
          <p:cNvSpPr txBox="1"/>
          <p:nvPr/>
        </p:nvSpPr>
        <p:spPr>
          <a:xfrm>
            <a:off x="393975" y="3183575"/>
            <a:ext cx="3975000" cy="1433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2"/>
                </a:solidFill>
              </a:rPr>
              <a:t>How It Works:</a:t>
            </a:r>
            <a:endParaRPr sz="1300">
              <a:solidFill>
                <a:schemeClr val="dk2"/>
              </a:solidFill>
            </a:endParaRPr>
          </a:p>
          <a:p>
            <a:pPr indent="-311150" lvl="0" marL="457200" rtl="0" algn="l">
              <a:lnSpc>
                <a:spcPct val="115000"/>
              </a:lnSpc>
              <a:spcBef>
                <a:spcPts val="1000"/>
              </a:spcBef>
              <a:spcAft>
                <a:spcPts val="0"/>
              </a:spcAft>
              <a:buClr>
                <a:schemeClr val="dk2"/>
              </a:buClr>
              <a:buSzPts val="1300"/>
              <a:buAutoNum type="arabicPeriod"/>
            </a:pPr>
            <a:r>
              <a:rPr lang="en" sz="1300">
                <a:solidFill>
                  <a:schemeClr val="dk2"/>
                </a:solidFill>
              </a:rPr>
              <a:t>Compute the loss gradient with respect to the image.</a:t>
            </a:r>
            <a:endParaRPr sz="1300">
              <a:solidFill>
                <a:schemeClr val="dk2"/>
              </a:solidFill>
            </a:endParaRPr>
          </a:p>
          <a:p>
            <a:pPr indent="-311150" lvl="0" marL="457200" rtl="0" algn="l">
              <a:lnSpc>
                <a:spcPct val="115000"/>
              </a:lnSpc>
              <a:spcBef>
                <a:spcPts val="0"/>
              </a:spcBef>
              <a:spcAft>
                <a:spcPts val="0"/>
              </a:spcAft>
              <a:buClr>
                <a:schemeClr val="dk2"/>
              </a:buClr>
              <a:buSzPts val="1300"/>
              <a:buAutoNum type="arabicPeriod"/>
            </a:pPr>
            <a:r>
              <a:rPr lang="en" sz="1300">
                <a:solidFill>
                  <a:schemeClr val="dk2"/>
                </a:solidFill>
              </a:rPr>
              <a:t>Take its sign.</a:t>
            </a:r>
            <a:endParaRPr sz="1300">
              <a:solidFill>
                <a:schemeClr val="dk2"/>
              </a:solidFill>
            </a:endParaRPr>
          </a:p>
          <a:p>
            <a:pPr indent="-311150" lvl="0" marL="457200" rtl="0" algn="l">
              <a:lnSpc>
                <a:spcPct val="115000"/>
              </a:lnSpc>
              <a:spcBef>
                <a:spcPts val="0"/>
              </a:spcBef>
              <a:spcAft>
                <a:spcPts val="0"/>
              </a:spcAft>
              <a:buClr>
                <a:schemeClr val="dk2"/>
              </a:buClr>
              <a:buSzPts val="1300"/>
              <a:buAutoNum type="arabicPeriod"/>
            </a:pPr>
            <a:r>
              <a:rPr lang="en" sz="1300">
                <a:solidFill>
                  <a:schemeClr val="dk2"/>
                </a:solidFill>
              </a:rPr>
              <a:t>Scale by ε and add it to the image.</a:t>
            </a:r>
            <a:endParaRPr sz="1300">
              <a:solidFill>
                <a:schemeClr val="dk2"/>
              </a:solidFill>
            </a:endParaRPr>
          </a:p>
        </p:txBody>
      </p:sp>
      <p:pic>
        <p:nvPicPr>
          <p:cNvPr id="105" name="Google Shape;105;p15"/>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106" name="Google Shape;106;p15"/>
          <p:cNvSpPr txBox="1"/>
          <p:nvPr/>
        </p:nvSpPr>
        <p:spPr>
          <a:xfrm>
            <a:off x="4572000" y="3183575"/>
            <a:ext cx="3975000" cy="1075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2"/>
                </a:solidFill>
              </a:rPr>
              <a:t>Reason Why It Works:</a:t>
            </a:r>
            <a:endParaRPr b="1" sz="1300">
              <a:solidFill>
                <a:schemeClr val="dk2"/>
              </a:solidFill>
            </a:endParaRPr>
          </a:p>
          <a:p>
            <a:pPr indent="0" lvl="0" marL="0" rtl="0" algn="l">
              <a:lnSpc>
                <a:spcPct val="115000"/>
              </a:lnSpc>
              <a:spcBef>
                <a:spcPts val="0"/>
              </a:spcBef>
              <a:spcAft>
                <a:spcPts val="0"/>
              </a:spcAft>
              <a:buNone/>
            </a:pPr>
            <a:r>
              <a:t/>
            </a:r>
            <a:endParaRPr sz="1300">
              <a:solidFill>
                <a:schemeClr val="dk2"/>
              </a:solidFill>
            </a:endParaRPr>
          </a:p>
          <a:p>
            <a:pPr indent="0" lvl="0" marL="0" rtl="0" algn="l">
              <a:lnSpc>
                <a:spcPct val="115000"/>
              </a:lnSpc>
              <a:spcBef>
                <a:spcPts val="0"/>
              </a:spcBef>
              <a:spcAft>
                <a:spcPts val="0"/>
              </a:spcAft>
              <a:buNone/>
            </a:pPr>
            <a:r>
              <a:rPr lang="en" sz="1300">
                <a:solidFill>
                  <a:schemeClr val="dk2"/>
                </a:solidFill>
              </a:rPr>
              <a:t>Small changes across many pixels can combine to produce a large change in the model’s output.</a:t>
            </a:r>
            <a:endParaRPr sz="13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PGD and Adversarial Training</a:t>
            </a:r>
            <a:endParaRPr sz="2220"/>
          </a:p>
        </p:txBody>
      </p:sp>
      <p:grpSp>
        <p:nvGrpSpPr>
          <p:cNvPr id="112" name="Google Shape;112;p16"/>
          <p:cNvGrpSpPr/>
          <p:nvPr/>
        </p:nvGrpSpPr>
        <p:grpSpPr>
          <a:xfrm>
            <a:off x="8414888" y="169062"/>
            <a:ext cx="537556" cy="136576"/>
            <a:chOff x="2641350" y="846250"/>
            <a:chExt cx="413600" cy="105075"/>
          </a:xfrm>
        </p:grpSpPr>
        <p:sp>
          <p:nvSpPr>
            <p:cNvPr id="113" name="Google Shape;113;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 name="Google Shape;117;p16"/>
          <p:cNvGrpSpPr/>
          <p:nvPr/>
        </p:nvGrpSpPr>
        <p:grpSpPr>
          <a:xfrm rot="10800000">
            <a:off x="205788" y="4842962"/>
            <a:ext cx="537556" cy="136576"/>
            <a:chOff x="2641350" y="846250"/>
            <a:chExt cx="413600" cy="105075"/>
          </a:xfrm>
        </p:grpSpPr>
        <p:sp>
          <p:nvSpPr>
            <p:cNvPr id="118" name="Google Shape;118;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22" name="Google Shape;122;p16"/>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
        <p:nvSpPr>
          <p:cNvPr id="123" name="Google Shape;123;p16"/>
          <p:cNvSpPr txBox="1"/>
          <p:nvPr>
            <p:ph idx="1" type="body"/>
          </p:nvPr>
        </p:nvSpPr>
        <p:spPr>
          <a:xfrm>
            <a:off x="311700" y="1106075"/>
            <a:ext cx="6286800" cy="3348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 sz="1500"/>
              <a:t>PGD:</a:t>
            </a:r>
            <a:r>
              <a:rPr lang="en" sz="1500"/>
              <a:t> Projected Gradient Descent</a:t>
            </a:r>
            <a:endParaRPr sz="1500"/>
          </a:p>
          <a:p>
            <a:pPr indent="0" lvl="0" marL="0" rtl="0" algn="l">
              <a:lnSpc>
                <a:spcPct val="115000"/>
              </a:lnSpc>
              <a:spcBef>
                <a:spcPts val="1000"/>
              </a:spcBef>
              <a:spcAft>
                <a:spcPts val="0"/>
              </a:spcAft>
              <a:buNone/>
            </a:pPr>
            <a:r>
              <a:rPr lang="en" sz="1500"/>
              <a:t>PGD repeatedly updates an image to increase the model’s loss while enforcing a perturbation limit.</a:t>
            </a:r>
            <a:endParaRPr sz="1500"/>
          </a:p>
          <a:p>
            <a:pPr indent="0" lvl="0" marL="0" rtl="0" algn="l">
              <a:lnSpc>
                <a:spcPct val="115000"/>
              </a:lnSpc>
              <a:spcBef>
                <a:spcPts val="1000"/>
              </a:spcBef>
              <a:spcAft>
                <a:spcPts val="0"/>
              </a:spcAft>
              <a:buClr>
                <a:schemeClr val="dk1"/>
              </a:buClr>
              <a:buSzPts val="1100"/>
              <a:buFont typeface="Arial"/>
              <a:buNone/>
            </a:pPr>
            <a:r>
              <a:rPr b="1" lang="en" sz="1500"/>
              <a:t>Training procedure</a:t>
            </a:r>
            <a:endParaRPr b="1" sz="1500"/>
          </a:p>
          <a:p>
            <a:pPr indent="0" lvl="0" marL="0" rtl="0" algn="l">
              <a:lnSpc>
                <a:spcPct val="115000"/>
              </a:lnSpc>
              <a:spcBef>
                <a:spcPts val="1000"/>
              </a:spcBef>
              <a:spcAft>
                <a:spcPts val="0"/>
              </a:spcAft>
              <a:buClr>
                <a:schemeClr val="dk1"/>
              </a:buClr>
              <a:buSzPts val="1100"/>
              <a:buFont typeface="Arial"/>
              <a:buNone/>
            </a:pPr>
            <a:r>
              <a:rPr lang="en" sz="1500"/>
              <a:t>1. Start with a randomly perturbed training image.</a:t>
            </a:r>
            <a:endParaRPr sz="1500"/>
          </a:p>
          <a:p>
            <a:pPr indent="0" lvl="0" marL="0" rtl="0" algn="l">
              <a:lnSpc>
                <a:spcPct val="115000"/>
              </a:lnSpc>
              <a:spcBef>
                <a:spcPts val="1000"/>
              </a:spcBef>
              <a:spcAft>
                <a:spcPts val="0"/>
              </a:spcAft>
              <a:buClr>
                <a:schemeClr val="dk1"/>
              </a:buClr>
              <a:buSzPts val="1100"/>
              <a:buFont typeface="Arial"/>
              <a:buNone/>
            </a:pPr>
            <a:r>
              <a:rPr lang="en" sz="1500"/>
              <a:t>2. Take a gradient step that increases loss.</a:t>
            </a:r>
            <a:endParaRPr sz="1500"/>
          </a:p>
          <a:p>
            <a:pPr indent="0" lvl="0" marL="0" rtl="0" algn="l">
              <a:lnSpc>
                <a:spcPct val="115000"/>
              </a:lnSpc>
              <a:spcBef>
                <a:spcPts val="1000"/>
              </a:spcBef>
              <a:spcAft>
                <a:spcPts val="0"/>
              </a:spcAft>
              <a:buClr>
                <a:schemeClr val="dk1"/>
              </a:buClr>
              <a:buSzPts val="1100"/>
              <a:buFont typeface="Arial"/>
              <a:buNone/>
            </a:pPr>
            <a:r>
              <a:rPr lang="en" sz="1500"/>
              <a:t>3. Project back into the allowed perturbation region.</a:t>
            </a:r>
            <a:endParaRPr sz="1500"/>
          </a:p>
          <a:p>
            <a:pPr indent="0" lvl="0" marL="0" rtl="0" algn="l">
              <a:lnSpc>
                <a:spcPct val="115000"/>
              </a:lnSpc>
              <a:spcBef>
                <a:spcPts val="1000"/>
              </a:spcBef>
              <a:spcAft>
                <a:spcPts val="0"/>
              </a:spcAft>
              <a:buClr>
                <a:schemeClr val="dk1"/>
              </a:buClr>
              <a:buSzPts val="1100"/>
              <a:buFont typeface="Arial"/>
              <a:buNone/>
            </a:pPr>
            <a:r>
              <a:rPr lang="en" sz="1500"/>
              <a:t>4. Repeat for the chosen number of attack steps.</a:t>
            </a:r>
            <a:endParaRPr sz="1500"/>
          </a:p>
          <a:p>
            <a:pPr indent="0" lvl="0" marL="0" rtl="0" algn="l">
              <a:lnSpc>
                <a:spcPct val="115000"/>
              </a:lnSpc>
              <a:spcBef>
                <a:spcPts val="1000"/>
              </a:spcBef>
              <a:spcAft>
                <a:spcPts val="1000"/>
              </a:spcAft>
              <a:buNone/>
            </a:pPr>
            <a:r>
              <a:rPr lang="en" sz="1500"/>
              <a:t>5. Update the model using the attacked image and its correct label.</a:t>
            </a:r>
            <a:endParaRPr sz="15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17"/>
          <p:cNvPicPr preferRelativeResize="0"/>
          <p:nvPr/>
        </p:nvPicPr>
        <p:blipFill rotWithShape="1">
          <a:blip r:embed="rId3">
            <a:alphaModFix/>
          </a:blip>
          <a:srcRect b="6083" l="50549" r="0" t="10242"/>
          <a:stretch/>
        </p:blipFill>
        <p:spPr>
          <a:xfrm>
            <a:off x="5409850" y="2771630"/>
            <a:ext cx="3106673" cy="2176481"/>
          </a:xfrm>
          <a:prstGeom prst="rect">
            <a:avLst/>
          </a:prstGeom>
          <a:noFill/>
          <a:ln>
            <a:noFill/>
          </a:ln>
        </p:spPr>
      </p:pic>
      <p:sp>
        <p:nvSpPr>
          <p:cNvPr id="129" name="Google Shape;129;p1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Robust Overfitting and Early Stopping</a:t>
            </a:r>
            <a:endParaRPr sz="2220"/>
          </a:p>
        </p:txBody>
      </p:sp>
      <p:grpSp>
        <p:nvGrpSpPr>
          <p:cNvPr id="130" name="Google Shape;130;p17"/>
          <p:cNvGrpSpPr/>
          <p:nvPr/>
        </p:nvGrpSpPr>
        <p:grpSpPr>
          <a:xfrm rot="10800000">
            <a:off x="205788" y="4842962"/>
            <a:ext cx="537556" cy="136576"/>
            <a:chOff x="2641350" y="846250"/>
            <a:chExt cx="413600" cy="105075"/>
          </a:xfrm>
        </p:grpSpPr>
        <p:sp>
          <p:nvSpPr>
            <p:cNvPr id="131" name="Google Shape;131;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5" name="Google Shape;135;p17"/>
          <p:cNvGrpSpPr/>
          <p:nvPr/>
        </p:nvGrpSpPr>
        <p:grpSpPr>
          <a:xfrm>
            <a:off x="8414888" y="169062"/>
            <a:ext cx="537556" cy="136576"/>
            <a:chOff x="2641350" y="846250"/>
            <a:chExt cx="413600" cy="105075"/>
          </a:xfrm>
        </p:grpSpPr>
        <p:sp>
          <p:nvSpPr>
            <p:cNvPr id="136" name="Google Shape;136;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40" name="Google Shape;140;p17"/>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141" name="Google Shape;141;p17"/>
          <p:cNvSpPr txBox="1"/>
          <p:nvPr>
            <p:ph idx="1" type="body"/>
          </p:nvPr>
        </p:nvSpPr>
        <p:spPr>
          <a:xfrm>
            <a:off x="311700" y="1106075"/>
            <a:ext cx="4511100" cy="3348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500"/>
              <a:t>Robust overfitting:</a:t>
            </a:r>
            <a:r>
              <a:rPr lang="en" sz="1500"/>
              <a:t> Robust test performance deteriorates after reaching its best point, even as training performance continues to improve.</a:t>
            </a:r>
            <a:endParaRPr sz="1500"/>
          </a:p>
          <a:p>
            <a:pPr indent="0" lvl="0" marL="0" rtl="0" algn="l">
              <a:spcBef>
                <a:spcPts val="1000"/>
              </a:spcBef>
              <a:spcAft>
                <a:spcPts val="0"/>
              </a:spcAft>
              <a:buNone/>
            </a:pPr>
            <a:r>
              <a:rPr b="1" lang="en" sz="1500"/>
              <a:t>Robust test error:</a:t>
            </a:r>
            <a:r>
              <a:rPr lang="en" sz="1500"/>
              <a:t> Percentage of attacked test images the model misclassifies.</a:t>
            </a:r>
            <a:endParaRPr sz="1500"/>
          </a:p>
          <a:p>
            <a:pPr indent="0" lvl="0" marL="0" rtl="0" algn="l">
              <a:spcBef>
                <a:spcPts val="1000"/>
              </a:spcBef>
              <a:spcAft>
                <a:spcPts val="0"/>
              </a:spcAft>
              <a:buNone/>
            </a:pPr>
            <a:r>
              <a:rPr b="1" lang="en" sz="1500"/>
              <a:t>Early stopping:</a:t>
            </a:r>
            <a:r>
              <a:rPr lang="en" sz="1500"/>
              <a:t> Select the checkpoint with the best adversarial accuracy on a held-out validation set.</a:t>
            </a:r>
            <a:endParaRPr sz="1500"/>
          </a:p>
          <a:p>
            <a:pPr indent="0" lvl="0" marL="0" rtl="0" algn="l">
              <a:spcBef>
                <a:spcPts val="1000"/>
              </a:spcBef>
              <a:spcAft>
                <a:spcPts val="0"/>
              </a:spcAft>
              <a:buNone/>
            </a:pPr>
            <a:r>
              <a:rPr lang="en" sz="1500"/>
              <a:t>The best checkpoint may occur before the end of training.</a:t>
            </a:r>
            <a:endParaRPr sz="1500"/>
          </a:p>
          <a:p>
            <a:pPr indent="0" lvl="0" marL="0" rtl="0" algn="l">
              <a:lnSpc>
                <a:spcPct val="115000"/>
              </a:lnSpc>
              <a:spcBef>
                <a:spcPts val="1000"/>
              </a:spcBef>
              <a:spcAft>
                <a:spcPts val="1000"/>
              </a:spcAft>
              <a:buNone/>
            </a:pPr>
            <a:r>
              <a:t/>
            </a:r>
            <a:endParaRPr b="1" sz="1500"/>
          </a:p>
        </p:txBody>
      </p:sp>
      <p:pic>
        <p:nvPicPr>
          <p:cNvPr id="142" name="Google Shape;142;p17"/>
          <p:cNvPicPr preferRelativeResize="0"/>
          <p:nvPr/>
        </p:nvPicPr>
        <p:blipFill rotWithShape="1">
          <a:blip r:embed="rId3">
            <a:alphaModFix/>
          </a:blip>
          <a:srcRect b="6076" l="0" r="49091" t="8461"/>
          <a:stretch/>
        </p:blipFill>
        <p:spPr>
          <a:xfrm>
            <a:off x="5255290" y="612338"/>
            <a:ext cx="3106683" cy="2159301"/>
          </a:xfrm>
          <a:prstGeom prst="rect">
            <a:avLst/>
          </a:prstGeom>
          <a:noFill/>
          <a:ln>
            <a:noFill/>
          </a:ln>
        </p:spPr>
      </p:pic>
      <p:pic>
        <p:nvPicPr>
          <p:cNvPr id="143" name="Google Shape;143;p17"/>
          <p:cNvPicPr preferRelativeResize="0"/>
          <p:nvPr/>
        </p:nvPicPr>
        <p:blipFill rotWithShape="1">
          <a:blip r:embed="rId3">
            <a:alphaModFix/>
          </a:blip>
          <a:srcRect b="91171" l="32818" r="32687" t="2425"/>
          <a:stretch/>
        </p:blipFill>
        <p:spPr>
          <a:xfrm rot="5400000">
            <a:off x="7007289" y="2661107"/>
            <a:ext cx="2934999" cy="2256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Our Research: Question and Motivation</a:t>
            </a:r>
            <a:endParaRPr sz="2220"/>
          </a:p>
        </p:txBody>
      </p:sp>
      <p:grpSp>
        <p:nvGrpSpPr>
          <p:cNvPr id="149" name="Google Shape;149;p18"/>
          <p:cNvGrpSpPr/>
          <p:nvPr/>
        </p:nvGrpSpPr>
        <p:grpSpPr>
          <a:xfrm rot="10800000">
            <a:off x="205788" y="4842962"/>
            <a:ext cx="537556" cy="136576"/>
            <a:chOff x="2641350" y="846250"/>
            <a:chExt cx="413600" cy="105075"/>
          </a:xfrm>
        </p:grpSpPr>
        <p:sp>
          <p:nvSpPr>
            <p:cNvPr id="150" name="Google Shape;150;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 name="Google Shape;154;p18"/>
          <p:cNvGrpSpPr/>
          <p:nvPr/>
        </p:nvGrpSpPr>
        <p:grpSpPr>
          <a:xfrm>
            <a:off x="8414888" y="169062"/>
            <a:ext cx="537556" cy="136576"/>
            <a:chOff x="2641350" y="846250"/>
            <a:chExt cx="413600" cy="105075"/>
          </a:xfrm>
        </p:grpSpPr>
        <p:sp>
          <p:nvSpPr>
            <p:cNvPr id="155" name="Google Shape;155;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9" name="Google Shape;159;p18"/>
          <p:cNvSpPr txBox="1"/>
          <p:nvPr>
            <p:ph idx="1" type="body"/>
          </p:nvPr>
        </p:nvSpPr>
        <p:spPr>
          <a:xfrm>
            <a:off x="311700" y="1017725"/>
            <a:ext cx="4260300" cy="367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300"/>
              <a:t>Question: </a:t>
            </a:r>
            <a:r>
              <a:rPr lang="en" sz="1300"/>
              <a:t>During adversarial training of PreActResNet-18 on CIFAR-10, how does independently selecting pixel-space or low-frequency DCT-masked PGD with equal probability at the start of each epoch affect the timing and severity of robust overfitting, compared with training exclusively against either attack?</a:t>
            </a:r>
            <a:endParaRPr sz="1300"/>
          </a:p>
          <a:p>
            <a:pPr indent="0" lvl="0" marL="0" rtl="0" algn="l">
              <a:spcBef>
                <a:spcPts val="1200"/>
              </a:spcBef>
              <a:spcAft>
                <a:spcPts val="0"/>
              </a:spcAft>
              <a:buClr>
                <a:schemeClr val="dk1"/>
              </a:buClr>
              <a:buSzPts val="1100"/>
              <a:buFont typeface="Arial"/>
              <a:buNone/>
            </a:pPr>
            <a:r>
              <a:rPr b="1" lang="en" sz="1300"/>
              <a:t>Hypothesis: </a:t>
            </a:r>
            <a:r>
              <a:rPr lang="en" sz="1300"/>
              <a:t>With architecture, dataset, optimization schedule, perturbation budget, and checkpoint-evaluation schedule held fixed, mixed-domain training will produce robust-accuracy curves that differ from those of the single-domain conditions. In particular, the peak epoch, peak shape, or post-peak decline may change under pixel-space and/or low-frequency evaluation.</a:t>
            </a:r>
            <a:endParaRPr sz="1300"/>
          </a:p>
          <a:p>
            <a:pPr indent="0" lvl="0" marL="0" rtl="0" algn="l">
              <a:spcBef>
                <a:spcPts val="1200"/>
              </a:spcBef>
              <a:spcAft>
                <a:spcPts val="1200"/>
              </a:spcAft>
              <a:buNone/>
            </a:pPr>
            <a:r>
              <a:t/>
            </a:r>
            <a:endParaRPr sz="1300"/>
          </a:p>
        </p:txBody>
      </p:sp>
      <p:pic>
        <p:nvPicPr>
          <p:cNvPr id="160" name="Google Shape;160;p18"/>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
        <p:nvSpPr>
          <p:cNvPr id="161" name="Google Shape;161;p18"/>
          <p:cNvSpPr txBox="1"/>
          <p:nvPr/>
        </p:nvSpPr>
        <p:spPr>
          <a:xfrm>
            <a:off x="4822800" y="1957200"/>
            <a:ext cx="3880200" cy="1229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2"/>
                </a:solidFill>
              </a:rPr>
              <a:t>Why This Matters:</a:t>
            </a:r>
            <a:endParaRPr b="1" sz="1300">
              <a:solidFill>
                <a:schemeClr val="dk2"/>
              </a:solidFill>
            </a:endParaRPr>
          </a:p>
          <a:p>
            <a:pPr indent="0" lvl="0" marL="0" rtl="0" algn="l">
              <a:lnSpc>
                <a:spcPct val="115000"/>
              </a:lnSpc>
              <a:spcBef>
                <a:spcPts val="1200"/>
              </a:spcBef>
              <a:spcAft>
                <a:spcPts val="1200"/>
              </a:spcAft>
              <a:buNone/>
            </a:pPr>
            <a:r>
              <a:rPr lang="en" sz="1300">
                <a:solidFill>
                  <a:schemeClr val="dk2"/>
                </a:solidFill>
              </a:rPr>
              <a:t>Understanding how the training attack affects robust overfitting can guide training methods that preserve robustness over time.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Attack Domains and Training Conditions</a:t>
            </a:r>
            <a:endParaRPr sz="2220"/>
          </a:p>
        </p:txBody>
      </p:sp>
      <p:grpSp>
        <p:nvGrpSpPr>
          <p:cNvPr id="167" name="Google Shape;167;p19"/>
          <p:cNvGrpSpPr/>
          <p:nvPr/>
        </p:nvGrpSpPr>
        <p:grpSpPr>
          <a:xfrm rot="10800000">
            <a:off x="205788" y="4842962"/>
            <a:ext cx="537556" cy="136576"/>
            <a:chOff x="2641350" y="846250"/>
            <a:chExt cx="413600" cy="105075"/>
          </a:xfrm>
        </p:grpSpPr>
        <p:sp>
          <p:nvSpPr>
            <p:cNvPr id="168" name="Google Shape;168;p1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 name="Google Shape;172;p19"/>
          <p:cNvGrpSpPr/>
          <p:nvPr/>
        </p:nvGrpSpPr>
        <p:grpSpPr>
          <a:xfrm>
            <a:off x="8414888" y="169062"/>
            <a:ext cx="537556" cy="136576"/>
            <a:chOff x="2641350" y="846250"/>
            <a:chExt cx="413600" cy="105075"/>
          </a:xfrm>
        </p:grpSpPr>
        <p:sp>
          <p:nvSpPr>
            <p:cNvPr id="173" name="Google Shape;173;p1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7" name="Google Shape;177;p19"/>
          <p:cNvSpPr txBox="1"/>
          <p:nvPr>
            <p:ph idx="1" type="body"/>
          </p:nvPr>
        </p:nvSpPr>
        <p:spPr>
          <a:xfrm>
            <a:off x="311700" y="1017725"/>
            <a:ext cx="4260300" cy="367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400"/>
              <a:t>Pixel-space PGD</a:t>
            </a:r>
            <a:endParaRPr b="1" sz="1400"/>
          </a:p>
          <a:p>
            <a:pPr indent="0" lvl="0" marL="0" rtl="0" algn="l">
              <a:spcBef>
                <a:spcPts val="1200"/>
              </a:spcBef>
              <a:spcAft>
                <a:spcPts val="0"/>
              </a:spcAft>
              <a:buClr>
                <a:schemeClr val="dk1"/>
              </a:buClr>
              <a:buSzPts val="1100"/>
              <a:buFont typeface="Arial"/>
              <a:buNone/>
            </a:pPr>
            <a:r>
              <a:rPr lang="en" sz="1400"/>
              <a:t>Changes pixel values within the allowed perturbation budget, without a frequency restriction.</a:t>
            </a:r>
            <a:endParaRPr sz="1400"/>
          </a:p>
          <a:p>
            <a:pPr indent="0" lvl="0" marL="0" rtl="0" algn="l">
              <a:spcBef>
                <a:spcPts val="1200"/>
              </a:spcBef>
              <a:spcAft>
                <a:spcPts val="0"/>
              </a:spcAft>
              <a:buClr>
                <a:schemeClr val="dk1"/>
              </a:buClr>
              <a:buSzPts val="1100"/>
              <a:buFont typeface="Arial"/>
              <a:buNone/>
            </a:pPr>
            <a:r>
              <a:rPr b="1" lang="en" sz="1400"/>
              <a:t>Low-frequency DCT-masked PGD</a:t>
            </a:r>
            <a:endParaRPr b="1" sz="1400"/>
          </a:p>
          <a:p>
            <a:pPr indent="0" lvl="0" marL="0" rtl="0" algn="l">
              <a:spcBef>
                <a:spcPts val="1200"/>
              </a:spcBef>
              <a:spcAft>
                <a:spcPts val="0"/>
              </a:spcAft>
              <a:buClr>
                <a:schemeClr val="dk1"/>
              </a:buClr>
              <a:buSzPts val="1100"/>
              <a:buFont typeface="Arial"/>
              <a:buNone/>
            </a:pPr>
            <a:r>
              <a:rPr lang="en" sz="1400"/>
              <a:t>Uses the discrete cosine transform to retain an 8 × 8 block of low-frequency coefficients per color channel.</a:t>
            </a:r>
            <a:endParaRPr sz="1400"/>
          </a:p>
          <a:p>
            <a:pPr indent="0" lvl="0" marL="0" rtl="0" algn="l">
              <a:spcBef>
                <a:spcPts val="1200"/>
              </a:spcBef>
              <a:spcAft>
                <a:spcPts val="1200"/>
              </a:spcAft>
              <a:buNone/>
            </a:pPr>
            <a:r>
              <a:rPr lang="en" sz="1400"/>
              <a:t>Both attacks use the same maximum pixel-change budget: ε = 8/255.</a:t>
            </a:r>
            <a:endParaRPr sz="1400"/>
          </a:p>
        </p:txBody>
      </p:sp>
      <p:pic>
        <p:nvPicPr>
          <p:cNvPr id="178" name="Google Shape;178;p19"/>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graphicFrame>
        <p:nvGraphicFramePr>
          <p:cNvPr id="179" name="Google Shape;179;p19"/>
          <p:cNvGraphicFramePr/>
          <p:nvPr/>
        </p:nvGraphicFramePr>
        <p:xfrm>
          <a:off x="4992200" y="1244838"/>
          <a:ext cx="3000000" cy="3000000"/>
        </p:xfrm>
        <a:graphic>
          <a:graphicData uri="http://schemas.openxmlformats.org/drawingml/2006/table">
            <a:tbl>
              <a:tblPr>
                <a:noFill/>
                <a:tableStyleId>{59B39CD7-D1CC-4C7E-91B1-2210CECFB6A5}</a:tableStyleId>
              </a:tblPr>
              <a:tblGrid>
                <a:gridCol w="1338525"/>
                <a:gridCol w="2501575"/>
              </a:tblGrid>
              <a:tr h="579150">
                <a:tc>
                  <a:txBody>
                    <a:bodyPr/>
                    <a:lstStyle/>
                    <a:p>
                      <a:pPr indent="0" lvl="0" marL="0" rtl="0" algn="l">
                        <a:spcBef>
                          <a:spcPts val="0"/>
                        </a:spcBef>
                        <a:spcAft>
                          <a:spcPts val="0"/>
                        </a:spcAft>
                        <a:buNone/>
                      </a:pPr>
                      <a:r>
                        <a:rPr b="1" lang="en" sz="1300"/>
                        <a:t>Training Condition</a:t>
                      </a:r>
                      <a:endParaRPr b="1"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 sz="1300"/>
                        <a:t>Attack Used During Training</a:t>
                      </a:r>
                      <a:endParaRPr b="1"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759375">
                <a:tc>
                  <a:txBody>
                    <a:bodyPr/>
                    <a:lstStyle/>
                    <a:p>
                      <a:pPr indent="0" lvl="0" marL="0" rtl="0" algn="l">
                        <a:spcBef>
                          <a:spcPts val="0"/>
                        </a:spcBef>
                        <a:spcAft>
                          <a:spcPts val="0"/>
                        </a:spcAft>
                        <a:buNone/>
                      </a:pPr>
                      <a:r>
                        <a:rPr lang="en" sz="1300"/>
                        <a:t>Pixel-only</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t>Pixel PGD in every epoch</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759375">
                <a:tc>
                  <a:txBody>
                    <a:bodyPr/>
                    <a:lstStyle/>
                    <a:p>
                      <a:pPr indent="0" lvl="0" marL="0" rtl="0" algn="l">
                        <a:spcBef>
                          <a:spcPts val="0"/>
                        </a:spcBef>
                        <a:spcAft>
                          <a:spcPts val="0"/>
                        </a:spcAft>
                        <a:buNone/>
                      </a:pPr>
                      <a:r>
                        <a:rPr lang="en" sz="1300"/>
                        <a:t>Low-frequency-only</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t>Low-frequency PGD in every epoch</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759375">
                <a:tc>
                  <a:txBody>
                    <a:bodyPr/>
                    <a:lstStyle/>
                    <a:p>
                      <a:pPr indent="0" lvl="0" marL="0" rtl="0" algn="l">
                        <a:spcBef>
                          <a:spcPts val="0"/>
                        </a:spcBef>
                        <a:spcAft>
                          <a:spcPts val="0"/>
                        </a:spcAft>
                        <a:buNone/>
                      </a:pPr>
                      <a:r>
                        <a:rPr lang="en" sz="1300"/>
                        <a:t>Mixed-domain</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t>Independently choose either attack with 50% probability each epoch</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Experimental Setup and Evaluation</a:t>
            </a:r>
            <a:endParaRPr sz="2220"/>
          </a:p>
        </p:txBody>
      </p:sp>
      <p:grpSp>
        <p:nvGrpSpPr>
          <p:cNvPr id="185" name="Google Shape;185;p20"/>
          <p:cNvGrpSpPr/>
          <p:nvPr/>
        </p:nvGrpSpPr>
        <p:grpSpPr>
          <a:xfrm rot="10800000">
            <a:off x="205788" y="4842962"/>
            <a:ext cx="537556" cy="136576"/>
            <a:chOff x="2641350" y="846250"/>
            <a:chExt cx="413600" cy="105075"/>
          </a:xfrm>
        </p:grpSpPr>
        <p:sp>
          <p:nvSpPr>
            <p:cNvPr id="186" name="Google Shape;186;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 name="Google Shape;190;p20"/>
          <p:cNvGrpSpPr/>
          <p:nvPr/>
        </p:nvGrpSpPr>
        <p:grpSpPr>
          <a:xfrm>
            <a:off x="8414888" y="169062"/>
            <a:ext cx="537556" cy="136576"/>
            <a:chOff x="2641350" y="846250"/>
            <a:chExt cx="413600" cy="105075"/>
          </a:xfrm>
        </p:grpSpPr>
        <p:sp>
          <p:nvSpPr>
            <p:cNvPr id="191" name="Google Shape;191;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95" name="Google Shape;195;p20"/>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graphicFrame>
        <p:nvGraphicFramePr>
          <p:cNvPr id="196" name="Google Shape;196;p20"/>
          <p:cNvGraphicFramePr/>
          <p:nvPr/>
        </p:nvGraphicFramePr>
        <p:xfrm>
          <a:off x="411075" y="1107925"/>
          <a:ext cx="3000000" cy="3000000"/>
        </p:xfrm>
        <a:graphic>
          <a:graphicData uri="http://schemas.openxmlformats.org/drawingml/2006/table">
            <a:tbl>
              <a:tblPr>
                <a:noFill/>
                <a:tableStyleId>{59B39CD7-D1CC-4C7E-91B1-2210CECFB6A5}</a:tableStyleId>
              </a:tblPr>
              <a:tblGrid>
                <a:gridCol w="4115850"/>
                <a:gridCol w="4115850"/>
              </a:tblGrid>
              <a:tr h="392225">
                <a:tc>
                  <a:txBody>
                    <a:bodyPr/>
                    <a:lstStyle/>
                    <a:p>
                      <a:pPr indent="0" lvl="0" marL="0" rtl="0" algn="l">
                        <a:spcBef>
                          <a:spcPts val="0"/>
                        </a:spcBef>
                        <a:spcAft>
                          <a:spcPts val="1000"/>
                        </a:spcAft>
                        <a:buNone/>
                      </a:pPr>
                      <a:r>
                        <a:rPr b="1" lang="en"/>
                        <a:t>Shared Setup</a:t>
                      </a:r>
                      <a:endParaRPr b="1"/>
                    </a:p>
                  </a:txBody>
                  <a:tcPr marT="91425" marB="91425" marR="91425" marL="91425"/>
                </a:tc>
                <a:tc>
                  <a:txBody>
                    <a:bodyPr/>
                    <a:lstStyle/>
                    <a:p>
                      <a:pPr indent="0" lvl="0" marL="0" rtl="0" algn="l">
                        <a:spcBef>
                          <a:spcPts val="0"/>
                        </a:spcBef>
                        <a:spcAft>
                          <a:spcPts val="1000"/>
                        </a:spcAft>
                        <a:buNone/>
                      </a:pPr>
                      <a:r>
                        <a:rPr b="1" lang="en"/>
                        <a:t>Checkpoint Evaluation</a:t>
                      </a:r>
                      <a:endParaRPr b="1"/>
                    </a:p>
                  </a:txBody>
                  <a:tcPr marT="91425" marB="91425" marR="91425" marL="91425"/>
                </a:tc>
              </a:tr>
              <a:tr h="2534600">
                <a:tc>
                  <a:txBody>
                    <a:bodyPr/>
                    <a:lstStyle/>
                    <a:p>
                      <a:pPr indent="-317500" lvl="0" marL="457200" rtl="0" algn="l">
                        <a:spcBef>
                          <a:spcPts val="0"/>
                        </a:spcBef>
                        <a:spcAft>
                          <a:spcPts val="0"/>
                        </a:spcAft>
                        <a:buSzPts val="1400"/>
                        <a:buChar char="-"/>
                      </a:pPr>
                      <a:r>
                        <a:rPr lang="en"/>
                        <a:t>PreActResNet-18 on CIFAR-10</a:t>
                      </a:r>
                      <a:endParaRPr/>
                    </a:p>
                    <a:p>
                      <a:pPr indent="-317500" lvl="0" marL="457200" rtl="0" algn="l">
                        <a:spcBef>
                          <a:spcPts val="1000"/>
                        </a:spcBef>
                        <a:spcAft>
                          <a:spcPts val="0"/>
                        </a:spcAft>
                        <a:buSzPts val="1400"/>
                        <a:buChar char="-"/>
                      </a:pPr>
                      <a:r>
                        <a:rPr lang="en"/>
                        <a:t>50,000 training images and 10,000 test images</a:t>
                      </a:r>
                      <a:endParaRPr/>
                    </a:p>
                    <a:p>
                      <a:pPr indent="-317500" lvl="0" marL="457200" rtl="0" algn="l">
                        <a:spcBef>
                          <a:spcPts val="1000"/>
                        </a:spcBef>
                        <a:spcAft>
                          <a:spcPts val="0"/>
                        </a:spcAft>
                        <a:buSzPts val="1400"/>
                        <a:buChar char="-"/>
                      </a:pPr>
                      <a:r>
                        <a:rPr lang="en"/>
                        <a:t>Five seeds per condition, 15 full runs</a:t>
                      </a:r>
                      <a:endParaRPr/>
                    </a:p>
                    <a:p>
                      <a:pPr indent="-317500" lvl="0" marL="457200" rtl="0" algn="l">
                        <a:spcBef>
                          <a:spcPts val="1000"/>
                        </a:spcBef>
                        <a:spcAft>
                          <a:spcPts val="0"/>
                        </a:spcAft>
                        <a:buSzPts val="1400"/>
                        <a:buChar char="-"/>
                      </a:pPr>
                      <a:r>
                        <a:rPr lang="en"/>
                        <a:t>200 epochs with PGD-10 training</a:t>
                      </a:r>
                      <a:endParaRPr/>
                    </a:p>
                    <a:p>
                      <a:pPr indent="-317500" lvl="0" marL="457200" rtl="0" algn="l">
                        <a:spcBef>
                          <a:spcPts val="1000"/>
                        </a:spcBef>
                        <a:spcAft>
                          <a:spcPts val="0"/>
                        </a:spcAft>
                        <a:buSzPts val="1400"/>
                        <a:buChar char="-"/>
                      </a:pPr>
                      <a:r>
                        <a:rPr lang="en"/>
                        <a:t>Learning-rate reductions after epochs 100 and 150</a:t>
                      </a:r>
                      <a:endParaRPr/>
                    </a:p>
                    <a:p>
                      <a:pPr indent="-317500" lvl="0" marL="457200" rtl="0" algn="l">
                        <a:spcBef>
                          <a:spcPts val="1000"/>
                        </a:spcBef>
                        <a:spcAft>
                          <a:spcPts val="1000"/>
                        </a:spcAft>
                        <a:buSzPts val="1400"/>
                        <a:buChar char="-"/>
                      </a:pPr>
                      <a:r>
                        <a:rPr lang="en"/>
                        <a:t>Checkpoints every five epochs</a:t>
                      </a:r>
                      <a:endParaRPr/>
                    </a:p>
                  </a:txBody>
                  <a:tcPr marT="91425" marB="91425" marR="91425" marL="91425"/>
                </a:tc>
                <a:tc>
                  <a:txBody>
                    <a:bodyPr/>
                    <a:lstStyle/>
                    <a:p>
                      <a:pPr indent="-317500" lvl="0" marL="457200" rtl="0" algn="l">
                        <a:spcBef>
                          <a:spcPts val="0"/>
                        </a:spcBef>
                        <a:spcAft>
                          <a:spcPts val="0"/>
                        </a:spcAft>
                        <a:buSzPts val="1400"/>
                        <a:buChar char="-"/>
                      </a:pPr>
                      <a:r>
                        <a:rPr lang="en"/>
                        <a:t>PGD-20 with one random start per attack</a:t>
                      </a:r>
                      <a:endParaRPr/>
                    </a:p>
                    <a:p>
                      <a:pPr indent="-317500" lvl="0" marL="457200" rtl="0" algn="l">
                        <a:spcBef>
                          <a:spcPts val="1000"/>
                        </a:spcBef>
                        <a:spcAft>
                          <a:spcPts val="0"/>
                        </a:spcAft>
                        <a:buSzPts val="1400"/>
                        <a:buChar char="-"/>
                      </a:pPr>
                      <a:r>
                        <a:rPr lang="en"/>
                        <a:t>Clean accuracy</a:t>
                      </a:r>
                      <a:endParaRPr/>
                    </a:p>
                    <a:p>
                      <a:pPr indent="-317500" lvl="0" marL="457200" rtl="0" algn="l">
                        <a:spcBef>
                          <a:spcPts val="1000"/>
                        </a:spcBef>
                        <a:spcAft>
                          <a:spcPts val="0"/>
                        </a:spcAft>
                        <a:buSzPts val="1400"/>
                        <a:buChar char="-"/>
                      </a:pPr>
                      <a:r>
                        <a:rPr lang="en"/>
                        <a:t>Pixel-PGD-20 accuracy</a:t>
                      </a:r>
                      <a:endParaRPr/>
                    </a:p>
                    <a:p>
                      <a:pPr indent="-317500" lvl="0" marL="457200" rtl="0" algn="l">
                        <a:spcBef>
                          <a:spcPts val="1000"/>
                        </a:spcBef>
                        <a:spcAft>
                          <a:spcPts val="0"/>
                        </a:spcAft>
                        <a:buSzPts val="1400"/>
                        <a:buChar char="-"/>
                      </a:pPr>
                      <a:r>
                        <a:rPr lang="en"/>
                        <a:t>Low-frequency-PGD-20 accuracy</a:t>
                      </a:r>
                      <a:endParaRPr/>
                    </a:p>
                    <a:p>
                      <a:pPr indent="-317500" lvl="0" marL="457200" rtl="0" algn="l">
                        <a:spcBef>
                          <a:spcPts val="1000"/>
                        </a:spcBef>
                        <a:spcAft>
                          <a:spcPts val="1000"/>
                        </a:spcAft>
                        <a:buSzPts val="1400"/>
                        <a:buChar char="-"/>
                      </a:pPr>
                      <a:r>
                        <a:rPr lang="en"/>
                        <a:t>Joint accuracy: both attacked versions of an image must be classified correctly</a:t>
                      </a:r>
                      <a:endParaRPr/>
                    </a:p>
                  </a:txBody>
                  <a:tcPr marT="91425" marB="91425" marR="91425" marL="91425"/>
                </a:tc>
              </a:tr>
            </a:tbl>
          </a:graphicData>
        </a:graphic>
      </p:graphicFrame>
      <p:sp>
        <p:nvSpPr>
          <p:cNvPr id="197" name="Google Shape;197;p20"/>
          <p:cNvSpPr txBox="1"/>
          <p:nvPr>
            <p:ph idx="1" type="body"/>
          </p:nvPr>
        </p:nvSpPr>
        <p:spPr>
          <a:xfrm>
            <a:off x="360950" y="4121488"/>
            <a:ext cx="6567300" cy="63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Primary comparison:</a:t>
            </a:r>
            <a:r>
              <a:rPr lang="en" sz="1300"/>
              <a:t> Peak epoch and decline from peak accuracy to epoch 200.</a:t>
            </a:r>
            <a:endParaRPr sz="1300"/>
          </a:p>
          <a:p>
            <a:pPr indent="0" lvl="0" marL="0" rtl="0" algn="l">
              <a:spcBef>
                <a:spcPts val="0"/>
              </a:spcBef>
              <a:spcAft>
                <a:spcPts val="0"/>
              </a:spcAft>
              <a:buNone/>
            </a:pPr>
            <a:r>
              <a:rPr lang="en" sz="1300"/>
              <a:t>Reported peaks describe test-set trajectories, not validation-selected checkpoints.</a:t>
            </a:r>
            <a:endParaRPr sz="13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grpSp>
        <p:nvGrpSpPr>
          <p:cNvPr id="202" name="Google Shape;202;p21"/>
          <p:cNvGrpSpPr/>
          <p:nvPr/>
        </p:nvGrpSpPr>
        <p:grpSpPr>
          <a:xfrm rot="10800000">
            <a:off x="205788" y="4842962"/>
            <a:ext cx="537556" cy="136576"/>
            <a:chOff x="2641350" y="846250"/>
            <a:chExt cx="413600" cy="105075"/>
          </a:xfrm>
        </p:grpSpPr>
        <p:sp>
          <p:nvSpPr>
            <p:cNvPr id="203" name="Google Shape;203;p21"/>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21"/>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21"/>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21"/>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 name="Google Shape;207;p21"/>
          <p:cNvGrpSpPr/>
          <p:nvPr/>
        </p:nvGrpSpPr>
        <p:grpSpPr>
          <a:xfrm>
            <a:off x="8414888" y="169062"/>
            <a:ext cx="537556" cy="136576"/>
            <a:chOff x="2641350" y="846250"/>
            <a:chExt cx="413600" cy="105075"/>
          </a:xfrm>
        </p:grpSpPr>
        <p:sp>
          <p:nvSpPr>
            <p:cNvPr id="208" name="Google Shape;208;p21"/>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21"/>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21"/>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21"/>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12" name="Google Shape;212;p21" title="Screenshot 2026-09-14 at 11.29.33 PM.png"/>
          <p:cNvPicPr preferRelativeResize="0"/>
          <p:nvPr/>
        </p:nvPicPr>
        <p:blipFill rotWithShape="1">
          <a:blip r:embed="rId3">
            <a:alphaModFix/>
          </a:blip>
          <a:srcRect b="0" l="0" r="0" t="6130"/>
          <a:stretch/>
        </p:blipFill>
        <p:spPr>
          <a:xfrm>
            <a:off x="152400" y="1017725"/>
            <a:ext cx="8839199" cy="3330450"/>
          </a:xfrm>
          <a:prstGeom prst="rect">
            <a:avLst/>
          </a:prstGeom>
          <a:noFill/>
          <a:ln>
            <a:noFill/>
          </a:ln>
        </p:spPr>
      </p:pic>
      <p:sp>
        <p:nvSpPr>
          <p:cNvPr id="213" name="Google Shape;213;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Pixel-Only Training Reproduces Robust Overfitting</a:t>
            </a:r>
            <a:endParaRPr sz="2220"/>
          </a:p>
        </p:txBody>
      </p:sp>
      <p:pic>
        <p:nvPicPr>
          <p:cNvPr id="214" name="Google Shape;214;p21"/>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grpSp>
        <p:nvGrpSpPr>
          <p:cNvPr id="219" name="Google Shape;219;p22"/>
          <p:cNvGrpSpPr/>
          <p:nvPr/>
        </p:nvGrpSpPr>
        <p:grpSpPr>
          <a:xfrm rot="10800000">
            <a:off x="205788" y="4842962"/>
            <a:ext cx="537556" cy="136576"/>
            <a:chOff x="2641350" y="846250"/>
            <a:chExt cx="413600" cy="105075"/>
          </a:xfrm>
        </p:grpSpPr>
        <p:sp>
          <p:nvSpPr>
            <p:cNvPr id="220" name="Google Shape;220;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4" name="Google Shape;224;p22"/>
          <p:cNvGrpSpPr/>
          <p:nvPr/>
        </p:nvGrpSpPr>
        <p:grpSpPr>
          <a:xfrm>
            <a:off x="8414888" y="169062"/>
            <a:ext cx="537556" cy="136576"/>
            <a:chOff x="2641350" y="846250"/>
            <a:chExt cx="413600" cy="105075"/>
          </a:xfrm>
        </p:grpSpPr>
        <p:sp>
          <p:nvSpPr>
            <p:cNvPr id="225" name="Google Shape;225;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29" name="Google Shape;229;p22" title="Screenshot 2026-09-14 at 11.29.54 PM.png"/>
          <p:cNvPicPr preferRelativeResize="0"/>
          <p:nvPr/>
        </p:nvPicPr>
        <p:blipFill rotWithShape="1">
          <a:blip r:embed="rId3">
            <a:alphaModFix/>
          </a:blip>
          <a:srcRect b="0" l="0" r="0" t="6235"/>
          <a:stretch/>
        </p:blipFill>
        <p:spPr>
          <a:xfrm>
            <a:off x="152400" y="1017725"/>
            <a:ext cx="8839199" cy="3334775"/>
          </a:xfrm>
          <a:prstGeom prst="rect">
            <a:avLst/>
          </a:prstGeom>
          <a:noFill/>
          <a:ln>
            <a:noFill/>
          </a:ln>
        </p:spPr>
      </p:pic>
      <p:sp>
        <p:nvSpPr>
          <p:cNvPr id="230" name="Google Shape;230;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Low-Frequency Training Does Not Transfer to Pixel PGD</a:t>
            </a:r>
            <a:endParaRPr sz="2220"/>
          </a:p>
        </p:txBody>
      </p:sp>
      <p:pic>
        <p:nvPicPr>
          <p:cNvPr id="231" name="Google Shape;231;p22"/>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grpSp>
        <p:nvGrpSpPr>
          <p:cNvPr id="236" name="Google Shape;236;p23"/>
          <p:cNvGrpSpPr/>
          <p:nvPr/>
        </p:nvGrpSpPr>
        <p:grpSpPr>
          <a:xfrm rot="10800000">
            <a:off x="205788" y="4842962"/>
            <a:ext cx="537556" cy="136576"/>
            <a:chOff x="2641350" y="846250"/>
            <a:chExt cx="413600" cy="105075"/>
          </a:xfrm>
        </p:grpSpPr>
        <p:sp>
          <p:nvSpPr>
            <p:cNvPr id="237" name="Google Shape;237;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1" name="Google Shape;241;p23"/>
          <p:cNvGrpSpPr/>
          <p:nvPr/>
        </p:nvGrpSpPr>
        <p:grpSpPr>
          <a:xfrm>
            <a:off x="8414888" y="169062"/>
            <a:ext cx="537556" cy="136576"/>
            <a:chOff x="2641350" y="846250"/>
            <a:chExt cx="413600" cy="105075"/>
          </a:xfrm>
        </p:grpSpPr>
        <p:sp>
          <p:nvSpPr>
            <p:cNvPr id="242" name="Google Shape;242;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46" name="Google Shape;246;p23" title="Screenshot 2026-09-14 at 11.30.13 PM.png"/>
          <p:cNvPicPr preferRelativeResize="0"/>
          <p:nvPr/>
        </p:nvPicPr>
        <p:blipFill rotWithShape="1">
          <a:blip r:embed="rId3">
            <a:alphaModFix/>
          </a:blip>
          <a:srcRect b="0" l="0" r="0" t="5820"/>
          <a:stretch/>
        </p:blipFill>
        <p:spPr>
          <a:xfrm>
            <a:off x="152400" y="951750"/>
            <a:ext cx="8839199" cy="3357450"/>
          </a:xfrm>
          <a:prstGeom prst="rect">
            <a:avLst/>
          </a:prstGeom>
          <a:noFill/>
          <a:ln>
            <a:noFill/>
          </a:ln>
        </p:spPr>
      </p:pic>
      <p:sp>
        <p:nvSpPr>
          <p:cNvPr id="247" name="Google Shape;247;p2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Mixed-Domain Evaluation</a:t>
            </a:r>
            <a:endParaRPr sz="2220"/>
          </a:p>
        </p:txBody>
      </p:sp>
      <p:pic>
        <p:nvPicPr>
          <p:cNvPr id="248" name="Google Shape;248;p23"/>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grpSp>
        <p:nvGrpSpPr>
          <p:cNvPr id="253" name="Google Shape;253;p24"/>
          <p:cNvGrpSpPr/>
          <p:nvPr/>
        </p:nvGrpSpPr>
        <p:grpSpPr>
          <a:xfrm rot="10800000">
            <a:off x="205788" y="4842962"/>
            <a:ext cx="537556" cy="136576"/>
            <a:chOff x="2641350" y="846250"/>
            <a:chExt cx="413600" cy="105075"/>
          </a:xfrm>
        </p:grpSpPr>
        <p:sp>
          <p:nvSpPr>
            <p:cNvPr id="254" name="Google Shape;254;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8" name="Google Shape;258;p24"/>
          <p:cNvGrpSpPr/>
          <p:nvPr/>
        </p:nvGrpSpPr>
        <p:grpSpPr>
          <a:xfrm>
            <a:off x="8414888" y="169062"/>
            <a:ext cx="537556" cy="136576"/>
            <a:chOff x="2641350" y="846250"/>
            <a:chExt cx="413600" cy="105075"/>
          </a:xfrm>
        </p:grpSpPr>
        <p:sp>
          <p:nvSpPr>
            <p:cNvPr id="259" name="Google Shape;259;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63" name="Google Shape;263;p24" title="Screenshot 2026-09-14 at 11.28.55 PM.png"/>
          <p:cNvPicPr preferRelativeResize="0"/>
          <p:nvPr/>
        </p:nvPicPr>
        <p:blipFill rotWithShape="1">
          <a:blip r:embed="rId3">
            <a:alphaModFix/>
          </a:blip>
          <a:srcRect b="0" l="0" r="0" t="6033"/>
          <a:stretch/>
        </p:blipFill>
        <p:spPr>
          <a:xfrm>
            <a:off x="1332825" y="972000"/>
            <a:ext cx="6478351" cy="4086974"/>
          </a:xfrm>
          <a:prstGeom prst="rect">
            <a:avLst/>
          </a:prstGeom>
          <a:noFill/>
          <a:ln>
            <a:noFill/>
          </a:ln>
        </p:spPr>
      </p:pic>
      <p:sp>
        <p:nvSpPr>
          <p:cNvPr id="264" name="Google Shape;264;p2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Robustness Tracks the Most Recent Training Attack</a:t>
            </a:r>
            <a:endParaRPr sz="2220"/>
          </a:p>
        </p:txBody>
      </p:sp>
      <p:pic>
        <p:nvPicPr>
          <p:cNvPr id="265" name="Google Shape;265;p24"/>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Conclusions and Next Steps</a:t>
            </a:r>
            <a:endParaRPr sz="2220"/>
          </a:p>
        </p:txBody>
      </p:sp>
      <p:sp>
        <p:nvSpPr>
          <p:cNvPr id="271" name="Google Shape;271;p25"/>
          <p:cNvSpPr txBox="1"/>
          <p:nvPr>
            <p:ph idx="1" type="body"/>
          </p:nvPr>
        </p:nvSpPr>
        <p:spPr>
          <a:xfrm>
            <a:off x="311700" y="1152475"/>
            <a:ext cx="6305700" cy="363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Main findings</a:t>
            </a:r>
            <a:endParaRPr b="1" sz="1300"/>
          </a:p>
          <a:p>
            <a:pPr indent="-311150" lvl="0" marL="457200" rtl="0" algn="l">
              <a:spcBef>
                <a:spcPts val="1000"/>
              </a:spcBef>
              <a:spcAft>
                <a:spcPts val="0"/>
              </a:spcAft>
              <a:buSzPts val="1300"/>
              <a:buAutoNum type="arabicPeriod"/>
            </a:pPr>
            <a:r>
              <a:rPr lang="en" sz="1300"/>
              <a:t>Pixel-only training reproduced robust overfitting.</a:t>
            </a:r>
            <a:endParaRPr sz="1300"/>
          </a:p>
          <a:p>
            <a:pPr indent="-311150" lvl="0" marL="457200" rtl="0" algn="l">
              <a:spcBef>
                <a:spcPts val="0"/>
              </a:spcBef>
              <a:spcAft>
                <a:spcPts val="0"/>
              </a:spcAft>
              <a:buSzPts val="1300"/>
              <a:buAutoNum type="arabicPeriod"/>
            </a:pPr>
            <a:r>
              <a:rPr lang="en" sz="1300"/>
              <a:t>Low-frequency-only training retained high matched-attack accuracy but failed against pixel PGD.</a:t>
            </a:r>
            <a:endParaRPr sz="1300"/>
          </a:p>
          <a:p>
            <a:pPr indent="-311150" lvl="0" marL="457200" rtl="0" algn="l">
              <a:spcBef>
                <a:spcPts val="0"/>
              </a:spcBef>
              <a:spcAft>
                <a:spcPts val="0"/>
              </a:spcAft>
              <a:buSzPts val="1300"/>
              <a:buAutoNum type="arabicPeriod"/>
            </a:pPr>
            <a:r>
              <a:rPr lang="en" sz="1300"/>
              <a:t>Epoch-wise mixing produced robustness strongly associated with the most recent training attack.</a:t>
            </a:r>
            <a:endParaRPr sz="1300"/>
          </a:p>
          <a:p>
            <a:pPr indent="0" lvl="0" marL="0" rtl="0" algn="l">
              <a:spcBef>
                <a:spcPts val="1000"/>
              </a:spcBef>
              <a:spcAft>
                <a:spcPts val="0"/>
              </a:spcAft>
              <a:buNone/>
            </a:pPr>
            <a:r>
              <a:rPr b="1" lang="en" sz="1300"/>
              <a:t>Scope</a:t>
            </a:r>
            <a:endParaRPr b="1" sz="1300"/>
          </a:p>
          <a:p>
            <a:pPr indent="-311150" lvl="0" marL="457200" rtl="0" algn="l">
              <a:spcBef>
                <a:spcPts val="1000"/>
              </a:spcBef>
              <a:spcAft>
                <a:spcPts val="0"/>
              </a:spcAft>
              <a:buSzPts val="1300"/>
              <a:buAutoNum type="arabicPeriod"/>
            </a:pPr>
            <a:r>
              <a:rPr lang="en" sz="1300"/>
              <a:t>One dataset, one architecture, one frequency cutoff, and five seeds per condition. Finite-step attack results do not certify robustness or establish the underlying mechanism.</a:t>
            </a:r>
            <a:endParaRPr sz="1300"/>
          </a:p>
          <a:p>
            <a:pPr indent="-311150" lvl="0" marL="457200" rtl="0" algn="l">
              <a:spcBef>
                <a:spcPts val="0"/>
              </a:spcBef>
              <a:spcAft>
                <a:spcPts val="0"/>
              </a:spcAft>
              <a:buSzPts val="1300"/>
              <a:buAutoNum type="arabicPeriod"/>
            </a:pPr>
            <a:r>
              <a:rPr lang="en" sz="1300"/>
              <a:t>Next steps</a:t>
            </a:r>
            <a:endParaRPr sz="1300"/>
          </a:p>
          <a:p>
            <a:pPr indent="-311150" lvl="0" marL="457200" rtl="0" algn="l">
              <a:spcBef>
                <a:spcPts val="0"/>
              </a:spcBef>
              <a:spcAft>
                <a:spcPts val="0"/>
              </a:spcAft>
              <a:buSzPts val="1300"/>
              <a:buAutoNum type="arabicPeriod"/>
            </a:pPr>
            <a:r>
              <a:rPr lang="en" sz="1300"/>
              <a:t>Compare mixing within batches or individual examples, use validation-based checkpoint selection, and strengthen attack evaluation.</a:t>
            </a:r>
            <a:endParaRPr sz="1300"/>
          </a:p>
        </p:txBody>
      </p:sp>
      <p:grpSp>
        <p:nvGrpSpPr>
          <p:cNvPr id="272" name="Google Shape;272;p25"/>
          <p:cNvGrpSpPr/>
          <p:nvPr/>
        </p:nvGrpSpPr>
        <p:grpSpPr>
          <a:xfrm rot="10800000">
            <a:off x="205788" y="4842962"/>
            <a:ext cx="537556" cy="136576"/>
            <a:chOff x="2641350" y="846250"/>
            <a:chExt cx="413600" cy="105075"/>
          </a:xfrm>
        </p:grpSpPr>
        <p:sp>
          <p:nvSpPr>
            <p:cNvPr id="273" name="Google Shape;273;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7" name="Google Shape;277;p25"/>
          <p:cNvGrpSpPr/>
          <p:nvPr/>
        </p:nvGrpSpPr>
        <p:grpSpPr>
          <a:xfrm>
            <a:off x="8414888" y="169062"/>
            <a:ext cx="537556" cy="136576"/>
            <a:chOff x="2641350" y="846250"/>
            <a:chExt cx="413600" cy="105075"/>
          </a:xfrm>
        </p:grpSpPr>
        <p:sp>
          <p:nvSpPr>
            <p:cNvPr id="278" name="Google Shape;278;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82" name="Google Shape;282;p25"/>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2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Selected References</a:t>
            </a:r>
            <a:endParaRPr sz="2220"/>
          </a:p>
        </p:txBody>
      </p:sp>
      <p:sp>
        <p:nvSpPr>
          <p:cNvPr id="288" name="Google Shape;288;p26"/>
          <p:cNvSpPr txBox="1"/>
          <p:nvPr>
            <p:ph idx="1" type="body"/>
          </p:nvPr>
        </p:nvSpPr>
        <p:spPr>
          <a:xfrm>
            <a:off x="311700" y="1017725"/>
            <a:ext cx="8520600" cy="3393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200"/>
              <a:t>Goodfellow, I. J., Shlens, J., and Szegedy, C. Explaining and Harnessing Adversarial Examples. ICLR, 2015.</a:t>
            </a:r>
            <a:endParaRPr sz="1200"/>
          </a:p>
          <a:p>
            <a:pPr indent="0" lvl="0" marL="0" rtl="0" algn="l">
              <a:spcBef>
                <a:spcPts val="1000"/>
              </a:spcBef>
              <a:spcAft>
                <a:spcPts val="0"/>
              </a:spcAft>
              <a:buClr>
                <a:schemeClr val="dk1"/>
              </a:buClr>
              <a:buSzPts val="1100"/>
              <a:buFont typeface="Arial"/>
              <a:buNone/>
            </a:pPr>
            <a:r>
              <a:rPr lang="en" sz="1200"/>
              <a:t>Madry, A., Makelov, A., Schmidt, L., Tsipras, D., and Vladu, A. Towards Deep Learning Models Resistant to Adversarial Attacks. ICLR, 2018.</a:t>
            </a:r>
            <a:endParaRPr sz="1200"/>
          </a:p>
          <a:p>
            <a:pPr indent="0" lvl="0" marL="0" rtl="0" algn="l">
              <a:spcBef>
                <a:spcPts val="1000"/>
              </a:spcBef>
              <a:spcAft>
                <a:spcPts val="0"/>
              </a:spcAft>
              <a:buClr>
                <a:schemeClr val="dk1"/>
              </a:buClr>
              <a:buSzPts val="1100"/>
              <a:buFont typeface="Arial"/>
              <a:buNone/>
            </a:pPr>
            <a:r>
              <a:rPr lang="en" sz="1200"/>
              <a:t>Rice, L., Wong, E., and Kolter, J. Z. Overfitting in Adversarially Robust Deep Learning. ICML, 2020.</a:t>
            </a:r>
            <a:endParaRPr sz="1200"/>
          </a:p>
          <a:p>
            <a:pPr indent="0" lvl="0" marL="0" rtl="0" algn="l">
              <a:spcBef>
                <a:spcPts val="1000"/>
              </a:spcBef>
              <a:spcAft>
                <a:spcPts val="0"/>
              </a:spcAft>
              <a:buClr>
                <a:schemeClr val="dk1"/>
              </a:buClr>
              <a:buSzPts val="1100"/>
              <a:buFont typeface="Arial"/>
              <a:buNone/>
            </a:pPr>
            <a:r>
              <a:rPr lang="en" sz="1200"/>
              <a:t>Guo, C., Frank, J. S., and Weinberger, K. Q. Low Frequency Adversarial Perturbation. UAI 2019, PMLR 115, 2020.</a:t>
            </a:r>
            <a:endParaRPr sz="1200"/>
          </a:p>
          <a:p>
            <a:pPr indent="0" lvl="0" marL="0" rtl="0" algn="l">
              <a:spcBef>
                <a:spcPts val="1000"/>
              </a:spcBef>
              <a:spcAft>
                <a:spcPts val="0"/>
              </a:spcAft>
              <a:buClr>
                <a:schemeClr val="dk1"/>
              </a:buClr>
              <a:buSzPts val="1100"/>
              <a:buFont typeface="Arial"/>
              <a:buNone/>
            </a:pPr>
            <a:r>
              <a:rPr lang="en" sz="1200"/>
              <a:t>He, K., Zhang, X., Ren, S., and Sun, J. Identity Mappings in Deep Residual Networks. ECCV, 2016.</a:t>
            </a:r>
            <a:endParaRPr sz="1200"/>
          </a:p>
          <a:p>
            <a:pPr indent="0" lvl="0" marL="0" rtl="0" algn="l">
              <a:spcBef>
                <a:spcPts val="1000"/>
              </a:spcBef>
              <a:spcAft>
                <a:spcPts val="0"/>
              </a:spcAft>
              <a:buClr>
                <a:schemeClr val="dk1"/>
              </a:buClr>
              <a:buSzPts val="1100"/>
              <a:buFont typeface="Arial"/>
              <a:buNone/>
            </a:pPr>
            <a:r>
              <a:rPr lang="en" sz="1200"/>
              <a:t>Krizhevsky, A. Learning Multiple Layers of Features from Tiny Images. Technical report, 2009.</a:t>
            </a:r>
            <a:endParaRPr sz="1200"/>
          </a:p>
          <a:p>
            <a:pPr indent="0" lvl="0" marL="0" rtl="0" algn="l">
              <a:spcBef>
                <a:spcPts val="1000"/>
              </a:spcBef>
              <a:spcAft>
                <a:spcPts val="0"/>
              </a:spcAft>
              <a:buClr>
                <a:schemeClr val="dk1"/>
              </a:buClr>
              <a:buSzPts val="1100"/>
              <a:buFont typeface="Arial"/>
              <a:buNone/>
            </a:pPr>
            <a:r>
              <a:t/>
            </a:r>
            <a:endParaRPr sz="1200"/>
          </a:p>
          <a:p>
            <a:pPr indent="0" lvl="0" marL="0" rtl="0" algn="l">
              <a:spcBef>
                <a:spcPts val="1000"/>
              </a:spcBef>
              <a:spcAft>
                <a:spcPts val="1000"/>
              </a:spcAft>
              <a:buClr>
                <a:schemeClr val="dk1"/>
              </a:buClr>
              <a:buSzPts val="1100"/>
              <a:buFont typeface="Arial"/>
              <a:buNone/>
            </a:pPr>
            <a:r>
              <a:rPr b="1" lang="en" sz="1200"/>
              <a:t>Full bibliography and research materials:</a:t>
            </a:r>
            <a:r>
              <a:rPr lang="en" sz="1200"/>
              <a:t> </a:t>
            </a:r>
            <a:r>
              <a:rPr lang="en" sz="1200" u="sng">
                <a:solidFill>
                  <a:schemeClr val="hlink"/>
                </a:solidFill>
                <a:hlinkClick r:id="rId3"/>
              </a:rPr>
              <a:t>github.com/ItsKaiwenDu/Robust-Overfitting</a:t>
            </a:r>
            <a:endParaRPr sz="1200"/>
          </a:p>
        </p:txBody>
      </p:sp>
      <p:grpSp>
        <p:nvGrpSpPr>
          <p:cNvPr id="289" name="Google Shape;289;p26"/>
          <p:cNvGrpSpPr/>
          <p:nvPr/>
        </p:nvGrpSpPr>
        <p:grpSpPr>
          <a:xfrm rot="10800000">
            <a:off x="205788" y="4842962"/>
            <a:ext cx="537556" cy="136576"/>
            <a:chOff x="2641350" y="846250"/>
            <a:chExt cx="413600" cy="105075"/>
          </a:xfrm>
        </p:grpSpPr>
        <p:sp>
          <p:nvSpPr>
            <p:cNvPr id="290" name="Google Shape;290;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4" name="Google Shape;294;p26"/>
          <p:cNvGrpSpPr/>
          <p:nvPr/>
        </p:nvGrpSpPr>
        <p:grpSpPr>
          <a:xfrm>
            <a:off x="8414888" y="169062"/>
            <a:ext cx="537556" cy="136576"/>
            <a:chOff x="2641350" y="846250"/>
            <a:chExt cx="413600" cy="105075"/>
          </a:xfrm>
        </p:grpSpPr>
        <p:sp>
          <p:nvSpPr>
            <p:cNvPr id="295" name="Google Shape;295;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99" name="Google Shape;299;p26"/>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27"/>
          <p:cNvSpPr txBox="1"/>
          <p:nvPr>
            <p:ph type="title"/>
          </p:nvPr>
        </p:nvSpPr>
        <p:spPr>
          <a:xfrm>
            <a:off x="311700" y="735075"/>
            <a:ext cx="8520600" cy="2110800"/>
          </a:xfrm>
          <a:prstGeom prst="rect">
            <a:avLst/>
          </a:prstGeom>
        </p:spPr>
        <p:txBody>
          <a:bodyPr anchorCtr="0" anchor="ctr" bIns="91425" lIns="91425" spcFirstLastPara="1" rIns="91425" wrap="square" tIns="91425">
            <a:normAutofit/>
          </a:bodyPr>
          <a:lstStyle/>
          <a:p>
            <a:pPr indent="0" lvl="0" marL="0" rtl="0" algn="r">
              <a:lnSpc>
                <a:spcPct val="115000"/>
              </a:lnSpc>
              <a:spcBef>
                <a:spcPts val="0"/>
              </a:spcBef>
              <a:spcAft>
                <a:spcPts val="0"/>
              </a:spcAft>
              <a:buNone/>
            </a:pPr>
            <a:r>
              <a:rPr lang="en" sz="6000"/>
              <a:t>Thank you!</a:t>
            </a:r>
            <a:endParaRPr sz="1000"/>
          </a:p>
          <a:p>
            <a:pPr indent="0" lvl="0" marL="0" rtl="0" algn="r">
              <a:lnSpc>
                <a:spcPct val="115000"/>
              </a:lnSpc>
              <a:spcBef>
                <a:spcPts val="0"/>
              </a:spcBef>
              <a:spcAft>
                <a:spcPts val="0"/>
              </a:spcAft>
              <a:buNone/>
            </a:pPr>
            <a:r>
              <a:rPr lang="en" sz="2500"/>
              <a:t>Q</a:t>
            </a:r>
            <a:r>
              <a:rPr lang="en" sz="2500"/>
              <a:t>uestions?</a:t>
            </a:r>
            <a:endParaRPr sz="2500"/>
          </a:p>
        </p:txBody>
      </p:sp>
      <p:sp>
        <p:nvSpPr>
          <p:cNvPr id="305" name="Google Shape;305;p27"/>
          <p:cNvSpPr txBox="1"/>
          <p:nvPr>
            <p:ph idx="1" type="body"/>
          </p:nvPr>
        </p:nvSpPr>
        <p:spPr>
          <a:xfrm>
            <a:off x="5454325" y="2571750"/>
            <a:ext cx="3378000" cy="1539000"/>
          </a:xfrm>
          <a:prstGeom prst="rect">
            <a:avLst/>
          </a:prstGeom>
        </p:spPr>
        <p:txBody>
          <a:bodyPr anchorCtr="0" anchor="t" bIns="91425" lIns="91425" spcFirstLastPara="1" rIns="91425" wrap="square" tIns="91425">
            <a:noAutofit/>
          </a:bodyPr>
          <a:lstStyle/>
          <a:p>
            <a:pPr indent="0" lvl="0" marL="0" rtl="0" algn="r">
              <a:lnSpc>
                <a:spcPct val="100000"/>
              </a:lnSpc>
              <a:spcBef>
                <a:spcPts val="0"/>
              </a:spcBef>
              <a:spcAft>
                <a:spcPts val="0"/>
              </a:spcAft>
              <a:buClr>
                <a:schemeClr val="dk1"/>
              </a:buClr>
              <a:buSzPts val="1100"/>
              <a:buFont typeface="Arial"/>
              <a:buNone/>
            </a:pPr>
            <a:r>
              <a:rPr lang="en" sz="1500"/>
              <a:t>Kaiwen Du</a:t>
            </a:r>
            <a:endParaRPr sz="1500"/>
          </a:p>
          <a:p>
            <a:pPr indent="0" lvl="0" marL="0" rtl="0" algn="r">
              <a:lnSpc>
                <a:spcPct val="100000"/>
              </a:lnSpc>
              <a:spcBef>
                <a:spcPts val="1000"/>
              </a:spcBef>
              <a:spcAft>
                <a:spcPts val="0"/>
              </a:spcAft>
              <a:buClr>
                <a:schemeClr val="dk1"/>
              </a:buClr>
              <a:buSzPts val="1100"/>
              <a:buFont typeface="Arial"/>
              <a:buNone/>
            </a:pPr>
            <a:r>
              <a:rPr lang="en" sz="1500"/>
              <a:t>Department of Mathematics and Computer Science</a:t>
            </a:r>
            <a:endParaRPr sz="1500"/>
          </a:p>
          <a:p>
            <a:pPr indent="0" lvl="0" marL="0" rtl="0" algn="r">
              <a:lnSpc>
                <a:spcPct val="100000"/>
              </a:lnSpc>
              <a:spcBef>
                <a:spcPts val="1000"/>
              </a:spcBef>
              <a:spcAft>
                <a:spcPts val="1000"/>
              </a:spcAft>
              <a:buNone/>
            </a:pPr>
            <a:r>
              <a:rPr lang="en" sz="1500"/>
              <a:t>Santa Clara University</a:t>
            </a:r>
            <a:endParaRPr sz="1500"/>
          </a:p>
        </p:txBody>
      </p:sp>
      <p:grpSp>
        <p:nvGrpSpPr>
          <p:cNvPr id="306" name="Google Shape;306;p27"/>
          <p:cNvGrpSpPr/>
          <p:nvPr/>
        </p:nvGrpSpPr>
        <p:grpSpPr>
          <a:xfrm rot="10800000">
            <a:off x="205788" y="4842962"/>
            <a:ext cx="537556" cy="136576"/>
            <a:chOff x="2641350" y="846250"/>
            <a:chExt cx="413600" cy="105075"/>
          </a:xfrm>
        </p:grpSpPr>
        <p:sp>
          <p:nvSpPr>
            <p:cNvPr id="307" name="Google Shape;307;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1" name="Google Shape;311;p27"/>
          <p:cNvGrpSpPr/>
          <p:nvPr/>
        </p:nvGrpSpPr>
        <p:grpSpPr>
          <a:xfrm>
            <a:off x="8414888" y="169062"/>
            <a:ext cx="537556" cy="136576"/>
            <a:chOff x="2641350" y="846250"/>
            <a:chExt cx="413600" cy="105075"/>
          </a:xfrm>
        </p:grpSpPr>
        <p:sp>
          <p:nvSpPr>
            <p:cNvPr id="312" name="Google Shape;312;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16" name="Google Shape;316;p27" title="2.png"/>
          <p:cNvPicPr preferRelativeResize="0"/>
          <p:nvPr/>
        </p:nvPicPr>
        <p:blipFill rotWithShape="1">
          <a:blip r:embed="rId3">
            <a:alphaModFix/>
          </a:blip>
          <a:srcRect b="11371" l="0" r="0" t="0"/>
          <a:stretch/>
        </p:blipFill>
        <p:spPr>
          <a:xfrm>
            <a:off x="205800" y="169050"/>
            <a:ext cx="3881925" cy="3440400"/>
          </a:xfrm>
          <a:prstGeom prst="rect">
            <a:avLst/>
          </a:prstGeom>
          <a:noFill/>
          <a:ln>
            <a:noFill/>
          </a:ln>
        </p:spPr>
      </p:pic>
      <p:pic>
        <p:nvPicPr>
          <p:cNvPr id="317" name="Google Shape;317;p27"/>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318" name="Google Shape;318;p27"/>
          <p:cNvSpPr txBox="1"/>
          <p:nvPr/>
        </p:nvSpPr>
        <p:spPr>
          <a:xfrm>
            <a:off x="311700" y="3609450"/>
            <a:ext cx="48519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1000"/>
              </a:spcAft>
              <a:buNone/>
            </a:pPr>
            <a:r>
              <a:rPr b="1" i="1" lang="en" sz="1300">
                <a:solidFill>
                  <a:schemeClr val="dk2"/>
                </a:solidFill>
              </a:rPr>
              <a:t>Acknowledgments:</a:t>
            </a:r>
            <a:r>
              <a:rPr i="1" lang="en" sz="1300">
                <a:solidFill>
                  <a:schemeClr val="dk2"/>
                </a:solidFill>
              </a:rPr>
              <a:t> Thank you to Dr. Nicholas Tran for his mentorship and feedback on the research design, analysis, and presentation.</a:t>
            </a:r>
            <a:endParaRPr sz="1300">
              <a:solidFill>
                <a:schemeClr val="dk2"/>
              </a:solidFill>
            </a:endParaRPr>
          </a:p>
        </p:txBody>
      </p:sp>
      <p:sp>
        <p:nvSpPr>
          <p:cNvPr id="319" name="Google Shape;319;p27"/>
          <p:cNvSpPr txBox="1"/>
          <p:nvPr/>
        </p:nvSpPr>
        <p:spPr>
          <a:xfrm>
            <a:off x="311700" y="4347050"/>
            <a:ext cx="59748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1000"/>
              </a:spcAft>
              <a:buNone/>
            </a:pPr>
            <a:r>
              <a:rPr b="1" lang="en" sz="1300">
                <a:solidFill>
                  <a:schemeClr val="dk2"/>
                </a:solidFill>
              </a:rPr>
              <a:t>Project repository:</a:t>
            </a:r>
            <a:r>
              <a:rPr lang="en" sz="1300">
                <a:solidFill>
                  <a:schemeClr val="dk2"/>
                </a:solidFill>
              </a:rPr>
              <a:t> </a:t>
            </a:r>
            <a:r>
              <a:rPr lang="en" sz="1300" u="sng">
                <a:solidFill>
                  <a:schemeClr val="accent5"/>
                </a:solidFill>
                <a:hlinkClick r:id="rId5">
                  <a:extLst>
                    <a:ext uri="{A12FA001-AC4F-418D-AE19-62706E023703}">
                      <ahyp:hlinkClr val="tx"/>
                    </a:ext>
                  </a:extLst>
                </a:hlinkClick>
              </a:rPr>
              <a:t>github.com/ItsKaiwenDu/Robust-Overfitting</a:t>
            </a:r>
            <a:endParaRPr sz="13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