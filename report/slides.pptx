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3EC85C8-AC7A-468B-9DC8-D27FF14A4FE0}">
  <a:tblStyle styleId="{D3EC85C8-AC7A-468B-9DC8-D27FF14A4FE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3369da4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3369da4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Hi everyone! I’m Kaiwen Du, and today I’ll share my summer research on adversarial training, where we train image classifiers using deliberately altered images that try to fool them. The question is whether changing the kind of attack used during training changes how robustness develops, including whether it eventually gets worse. I’ll start with background with example, the approach, and then walk through what I found.</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f951f3020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f951f3020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Let’s start with this example from Goodfellow and colleagues. Over here on the left, we have a panda, and the model correctly identifies it as a panda with 57.7</a:t>
            </a:r>
            <a:r>
              <a:rPr lang="en"/>
              <a:t>% </a:t>
            </a:r>
            <a:r>
              <a:rPr lang="en"/>
              <a:t>confidence. Confidence here means the score the model assigns to its prediction, so a high number does not necessarily mean the answer is correct. In the middle is a perturbation, which simply means a change added to the original image. This pattern is scaled down before being added, so the actual change is much smaller than the colorful image makes it look. Now look at the result on the right. It still looks like a panda to us, but the model predicts gibbon with 99.3</a:t>
            </a:r>
            <a:r>
              <a:rPr lang="en"/>
              <a:t>% </a:t>
            </a:r>
            <a:r>
              <a:rPr lang="en"/>
              <a:t>confidence. The important part is that these changes are specifically calculated in order to mislead the model. That gives us a concrete example of an adversarial attack, and the next slide explains one way to calculate it.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f4abb14d47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f4abb14d47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
              <a:t>One way to generate that change is FGSM, which stands for Fast Gradient Sign Method. Under the hood, the model has a loss function, which gives a numerical penalty for its predictions, with larger penalties for worse predictions. The gradient tells us how small changes to the input would affect that loss. So for example, it can tell us whether slightly increasing or decreasing a particular pixel value would make the prediction worse. FGSM keeps the sign of that gradient, meaning the direction of the change, and scales it by epsilon, the allowed size of the change. In the equation, x is the original image, eta is the perturbation we calculate, and x-tilde is the resulting attacked image. We also keep the resulting pixel values within the valid image range. The intuition at the bottom is that a small change to one pixel may do very little, but if we just do these for every single pixel in an image, it can accumulate and substantially affect the prediction. FGSM does this in one step. The method used in my experiments takes several.</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f4abb14d47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f4abb14d47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That method is called PGD, </a:t>
            </a:r>
            <a:r>
              <a:rPr lang="en"/>
              <a:t>short for </a:t>
            </a:r>
            <a:r>
              <a:rPr lang="en"/>
              <a:t>Projected Gradient Descent. Compared with FGSM’s single step, PGD takes several smaller steps and recalculates the gradient as the image changes. Over here on the right, the flowchart shows how we use it during training. We start by adding a random perturbation within the allowed budget, which is our limit on how much the image can change. Then we take a step that increases the loss and project the result back into the allowed region. Projecting here means correcting any changes that violate the perturbation limit or the valid pixel range. We repeat those two steps ten times, which is what PGD-10 means. Throughout that loop, the model’s weights, the numerical parameters it learns during training, stay fixed. Once we have the attacked image, we keep its original label, meaning the correct category, and update the model’s weights to reduce the loss. So the first part changes the image to make classification harder, and the final part teaches the model to handle that image. That whole process is adversarial training.</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4abb14d47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4abb14d47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
              <a:t>You might expect that giving the model more adversarial training would keep making it more robust, but that does not always happen. Over here on the right top graph, the robust training error keeps falling, while the robust test error reaches its lowest point and then starts rising. Error means the percentage of images classified incorrectly, so lower is better. Basically, the model is getting better on the attacked images it trains on, but worse on attacked test images. That’s what we mean by robust overfitting. Now, the bar chart below shows that Rice and colleagues observed this across several datasets. Those names along the bottom are different image datasets. For example, SVHN stands for Street View House Numbers and contains images of digits, while CIFAR and ImageNet contain different categories of images. The blue bars show the lowest robust test error reached during training, and the red bars show the error near the end. These results use an L-infinity limit, which caps how much each individual pixel value can change. In every case, the red bar is higher, meaning some robustness was lost as training continued. One established response is early stopping: save checkpoints, which are snapshots of the model during training, and use a separate validation set to choose which one to keep. That set helps us select the model without using the test results to make that decision.</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fb94eb41cd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fb94eb41cd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
              <a:t>So far, we’ve mainly talked about attacks that work directly in pixel space. Before introducing my research question, let me explain the two attack domains I compare. By domain, I mean the kind of perturbation, or change to the image, that the attack can construct. Pixel-space PGD can adjust pixel values without a frequency restriction, as long as it stays within the allowed budget. For the low-frequency attack, I use the discrete cosine transform, or DCT, which represents a pattern as a combination of waves that vary at different spatial scales. So, for example, a broad, gradual change across an image is low frequency, while a pattern that changes rapidly from pixel to pixel is high frequency. The coefficients tell us how much of each wave pattern to include. My implementation keeps an eight-by-eight block of low-frequency coefficients for each color channel, red, green, and blue, then transforms the perturbation back into pixel space. Both attacks allow a maximum change of eight over two hundred and fifty-five per pixel value, with values scaled between zero and one. Over here on the right, the table shows the three training conditions: pixel-only, low-frequency-only, and mixed-domain. In mixed-domain training, we make an independent fifty-fifty choice at the start of each epoch, which is one pass through the training dataset, and use that attack throughout the epoch. That means the same attack can be selected several epochs in a row. One detail to keep in mind is that the attack update rules also differ, so this comparison captures both the frequency restriction and differences in how the attacks are constructed. With those three conditions in place, we can now ask how choosing between the two domains affects robust overfitting.</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f94b6fb87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f94b6fb87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
              <a:t>With those three training conditions in mind, here’s the question I wanted to investigate. What happens when we randomly choose between pixel-space and low-frequency attacks each epoch, compared with training on either attack alone? Specifically, I’m looking at when robust accuracy peaks and how much it declines afterward. Robust accuracy means the percentage of attacked test images the model still classifies correctly. My hypothesis was that mixing the attacks would change the timing or shape of those accuracy curves, with the other experimental settings held fixed. I wasn’t assuming that mixing would necessarily improve them. We want to understand whether this approach helps maintain robustness against both attacks over time, or whether performance mainly follows whichever attack the model encountered most recently.</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fb94eb41cd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fb94eb41cd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
              <a:t>Over here on the left is the shared setup. I used PreActResNet-18, an image-classification neural network, on CIFAR-10, a dataset of small images divided into ten categories. There are fifty thousand training images and ten thousand test images. I repeated each condition with five random seeds, which control things such as the initial model weights and the order of the training data, giving fifteen runs in total. Each run lasted two hundred epochs, and I saved a checkpoint every five epochs. The learning rate, which controls how much the weights change in each training update, drops after epochs one hundred and one hundred and fifty. On the right are the evaluation measurements. Training uses ten attack steps, while checkpoint evaluation uses twenty, with one random starting perturbation per image for each attack. Clean accuracy uses the unchanged images, and the other two component accuracies use pixel and low-frequency attacks. Joint accuracy checks both attacked versions of the same image. So, for example, if the model gets the low-frequency version right but the pixel version wrong, that image fails the joint metric. The plots show the average across five seeds, and their shaded bands show standard deviation, a measure of how much the runs differ. Finally, the peaks I report describe what happened on the test set. They are not results from choosing a checkpoint using a validation set.</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fb5d9673d8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9" name="Google Shape;209;g3fb5d9673d8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
              <a:t>Let’s start with the pixel-only condition, which serves as the control, or reference experiment, for the comparison. On the left, we can see how test accuracy changes across the saved checkpoints. The pixel-attack accuracy reaches around 51</a:t>
            </a:r>
            <a:r>
              <a:rPr lang="en"/>
              <a:t>% </a:t>
            </a:r>
            <a:r>
              <a:rPr lang="en"/>
              <a:t>at epoch 105, marked by the green line, and then falls to around 43</a:t>
            </a:r>
            <a:r>
              <a:rPr lang="en"/>
              <a:t>% </a:t>
            </a:r>
            <a:r>
              <a:rPr lang="en"/>
              <a:t>by the end. That is a drop of about 8 percentage points. This timing was consistent across all five runs: each one reached its individual pixel-accuracy peak at epoch 105. Over here on the right, the loss under the pixel attack rises from about 1.29 at that checkpoint to 3.22 at the end, so that measurement also shows the deterioration. You may notice that the pixel and joint accuracy lines nearly overlap on the left. That means the pixel attack captures essentially all the failures that the joint metric detects in this condition. So this first experiment reproduces the robust-overfitting pattern we expected. We can now compare that with what happens when the model trains only against low-frequency attacks.</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f4c31c5764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f4c31c5764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
              <a:t>This condition looks quite different. Over here on the left, the blue clean-accuracy curve and the orange low-frequency-accuracy curve both stay high toward the end of training. Final clean accuracy is 94.28 percent, and final low-frequency accuracy is 92.70 percent, very close to its peak. But look at the two curves along the bottom: pixel and joint accuracy are both zero at every checkpoint we evaluated, across all five runs. In other words, these models handle the low-frequency attack well under our evaluation, but the pixel attack still fools them on every test image. On the right, the large red loss curve also reflects their poor performance against pixel PGD. So the high orange curve does not mean the model is broadly robust. It means the model performs well against that particular attack procedure. Even there, stable accuracy does not mean the loss stays flat, and stronger low-frequency attacks could change the measured accuracy. This contrast is what makes the mixed condition interesting: we can now see what happens when training includes both attacks.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fb5d9673d8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fb5d9673d8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
              <a:t>Here we’re looking at the mixed-domain runs, where each epoch independently chooses one of the two training attacks. The plots still average all five seeds at each checkpoint. On the left, the pixel and joint accuracy curves now move up and down quite sharply. Mean joint accuracy reaches 40.79</a:t>
            </a:r>
            <a:r>
              <a:rPr lang="en"/>
              <a:t>% </a:t>
            </a:r>
            <a:r>
              <a:rPr lang="en"/>
              <a:t>at epoch 85 and ends at 19.33 percent. Over on the right, the pixel-attack loss also fluctuates, and the broad shaded regions show that the runs often differ substantially. It would be tempting to call that whole peak-to-final drop robust overfitting, but there’s something else mixed into this average. At any particular checkpoint, some runs have just trained with pixel PGD, while others have just trained with low-frequency PGD. At epoch 85, all five happened to use pixel training, but at epoch two hundred, only one did. So those two averages combine different recent training conditions. To see what’s underneath the fluctuations, I separated the results according to the attack used in each checkpoint’s most recent training epoch.</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fb5d9673d8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g3fb5d9673d8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
              <a:t>This slide uses the same models and the same evaluation results, but now we separate them before taking the averages. Blue means the model just completed a pixel-training epoch, and orange means it just completed a low-frequency-training epoch. Both groups still get evaluated against both attacks. So, for example, if three runs used pixel training at a particular checkpoint epoch and two used low-frequency training, we would average those three separately from those two. At the next checkpoint, the membership can change, so these lines don’t represent two fixed groups of models. Now look over here on the left: pixel accuracy is much higher after pixel training. Across all saved checkpoints from the five runs, it averages 42.36</a:t>
            </a:r>
            <a:r>
              <a:rPr lang="en"/>
              <a:t>% </a:t>
            </a:r>
            <a:r>
              <a:rPr lang="en"/>
              <a:t>after pixel epochs and 3.53</a:t>
            </a:r>
            <a:r>
              <a:rPr lang="en"/>
              <a:t>% </a:t>
            </a:r>
            <a:r>
              <a:rPr lang="en"/>
              <a:t>after low-frequency epochs. On the right, the ordering reverses: low-frequency accuracy is higher after low-frequency training, although the separation is smaller. This helps us see what the overall average was hiding. Measured robustness is strongly associated with the most recent training attack. It doesn’t establish a forgetting mechanism, but it shows that this way of mixing attacks did not maintain stable robustness against both.</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f4abb14d47_0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f4abb14d47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lang="en"/>
              <a:t>Putting these results together, the training attack makes a substantial difference to the robustness pattern we observe. Pixel-only training reproduced robust overfitting across all five runs. Low-frequency-only training kept high accuracy against its own attack, but that did not transfer to pixel PGD. And mixed-domain training produced results that were strongly associated with whichever attack the model had just trained on. These observations are consistent with the hypothesis that changing the training attack changes the robustness curves, but they do not show that mixing once per epoch improves robustness. There are also limits to how broadly we can apply the findings: I tested one dataset, one architecture, and one frequency cutoff, and the attacks search for damaging perturbations using a limited number of steps. Passing those attacks is not a guarantee against every allowed perturbation. Over on the right are the next steps. One useful comparison would mix attacks within a batch, which is the small group of examples used for a training update, or choose attacks separately for individual images. I’d also use validation-based checkpoint selection and more extensive attack testing to see whether any improvement holds up.</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fb5d9673d8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3fb5d9673d8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
              <a:t>These are the main papers behind the background and methods. The GitHub repository contains the experiment scripts, results, and full report, and the model checkpoints are available on Hugging Face.</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f4c31c5764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f4c31c5764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
              <a:t>Before I finish, I’d like to thank Dr. Nicholas Tran for his mentorship throughout this project and for helping me think through the research design, analysis, and presentation. Thank you for listening!</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github.com/ItsKaiwenDu/Robust-Overfitting" TargetMode="External"/><Relationship Id="rId4" Type="http://schemas.openxmlformats.org/officeDocument/2006/relationships/hyperlink" Target="https://huggingface.co/KaiwenDu/robust-overfitting-checkpoints" TargetMode="External"/><Relationship Id="rId5"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5.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hyperlink" Target="http://github.com/ItsKaiwenDu/Robust-Overfittin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1067650"/>
            <a:ext cx="8520600" cy="2052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SzPts val="990"/>
              <a:buNone/>
            </a:pPr>
            <a:r>
              <a:rPr lang="en" sz="3600"/>
              <a:t>Robust Overfitting Across Pixel-Space and Low-Frequency Adversarial Training</a:t>
            </a:r>
            <a:endParaRPr sz="3600"/>
          </a:p>
        </p:txBody>
      </p:sp>
      <p:sp>
        <p:nvSpPr>
          <p:cNvPr id="55" name="Google Shape;55;p13"/>
          <p:cNvSpPr txBox="1"/>
          <p:nvPr>
            <p:ph idx="1" type="subTitle"/>
          </p:nvPr>
        </p:nvSpPr>
        <p:spPr>
          <a:xfrm>
            <a:off x="311700" y="2914650"/>
            <a:ext cx="8520600" cy="1581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Clr>
                <a:schemeClr val="dk1"/>
              </a:buClr>
              <a:buSzPts val="1100"/>
              <a:buFont typeface="Arial"/>
              <a:buNone/>
            </a:pPr>
            <a:r>
              <a:rPr lang="en" sz="2000"/>
              <a:t>Kaiwen Du</a:t>
            </a:r>
            <a:endParaRPr sz="2000"/>
          </a:p>
          <a:p>
            <a:pPr indent="0" lvl="0" marL="0" rtl="0" algn="ctr">
              <a:spcBef>
                <a:spcPts val="0"/>
              </a:spcBef>
              <a:spcAft>
                <a:spcPts val="0"/>
              </a:spcAft>
              <a:buClr>
                <a:schemeClr val="dk1"/>
              </a:buClr>
              <a:buSzPts val="1100"/>
              <a:buFont typeface="Arial"/>
              <a:buNone/>
            </a:pPr>
            <a:r>
              <a:rPr lang="en" sz="2000"/>
              <a:t>Department of Mathematics and Computer Science</a:t>
            </a:r>
            <a:endParaRPr sz="2000"/>
          </a:p>
          <a:p>
            <a:pPr indent="0" lvl="0" marL="0" rtl="0" algn="ctr">
              <a:spcBef>
                <a:spcPts val="0"/>
              </a:spcBef>
              <a:spcAft>
                <a:spcPts val="0"/>
              </a:spcAft>
              <a:buClr>
                <a:schemeClr val="dk1"/>
              </a:buClr>
              <a:buSzPts val="1100"/>
              <a:buFont typeface="Arial"/>
              <a:buNone/>
            </a:pPr>
            <a:r>
              <a:rPr lang="en" sz="2000"/>
              <a:t>Santa Clara University</a:t>
            </a:r>
            <a:endParaRPr sz="2000"/>
          </a:p>
          <a:p>
            <a:pPr indent="0" lvl="0" marL="0" rtl="0" algn="ctr">
              <a:spcBef>
                <a:spcPts val="0"/>
              </a:spcBef>
              <a:spcAft>
                <a:spcPts val="0"/>
              </a:spcAft>
              <a:buNone/>
            </a:pPr>
            <a:r>
              <a:rPr lang="en" sz="2000"/>
              <a:t>Summer 2026</a:t>
            </a:r>
            <a:endParaRPr sz="2000"/>
          </a:p>
        </p:txBody>
      </p:sp>
      <p:grpSp>
        <p:nvGrpSpPr>
          <p:cNvPr id="56" name="Google Shape;56;p13"/>
          <p:cNvGrpSpPr/>
          <p:nvPr/>
        </p:nvGrpSpPr>
        <p:grpSpPr>
          <a:xfrm>
            <a:off x="8414888" y="169062"/>
            <a:ext cx="537556" cy="136576"/>
            <a:chOff x="2641350" y="846250"/>
            <a:chExt cx="413600" cy="105075"/>
          </a:xfrm>
        </p:grpSpPr>
        <p:sp>
          <p:nvSpPr>
            <p:cNvPr id="57" name="Google Shape;57;p1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1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1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1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 name="Google Shape;61;p13"/>
          <p:cNvGrpSpPr/>
          <p:nvPr/>
        </p:nvGrpSpPr>
        <p:grpSpPr>
          <a:xfrm rot="10800000">
            <a:off x="205788" y="4842962"/>
            <a:ext cx="537556" cy="136576"/>
            <a:chOff x="2641350" y="846250"/>
            <a:chExt cx="413600" cy="105075"/>
          </a:xfrm>
        </p:grpSpPr>
        <p:sp>
          <p:nvSpPr>
            <p:cNvPr id="62" name="Google Shape;62;p1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1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1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1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66" name="Google Shape;66;p13"/>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idx="4294967295"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Adversarial Example: Panda to Gibbon</a:t>
            </a:r>
            <a:endParaRPr sz="1520"/>
          </a:p>
        </p:txBody>
      </p:sp>
      <p:pic>
        <p:nvPicPr>
          <p:cNvPr id="72" name="Google Shape;72;p14" title="Screenshot 2026-07-10 at 8.54.43 PM.png"/>
          <p:cNvPicPr preferRelativeResize="0"/>
          <p:nvPr/>
        </p:nvPicPr>
        <p:blipFill>
          <a:blip r:embed="rId3">
            <a:alphaModFix/>
          </a:blip>
          <a:stretch>
            <a:fillRect/>
          </a:stretch>
        </p:blipFill>
        <p:spPr>
          <a:xfrm>
            <a:off x="1728960" y="2497231"/>
            <a:ext cx="5785748" cy="2223296"/>
          </a:xfrm>
          <a:prstGeom prst="rect">
            <a:avLst/>
          </a:prstGeom>
          <a:noFill/>
          <a:ln>
            <a:noFill/>
          </a:ln>
        </p:spPr>
      </p:pic>
      <p:sp>
        <p:nvSpPr>
          <p:cNvPr id="73" name="Google Shape;73;p14"/>
          <p:cNvSpPr txBox="1"/>
          <p:nvPr>
            <p:ph idx="4294967295" type="body"/>
          </p:nvPr>
        </p:nvSpPr>
        <p:spPr>
          <a:xfrm>
            <a:off x="311700" y="1106075"/>
            <a:ext cx="7239600" cy="11712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300"/>
              <a:t>A small, deliberately chosen change to an image can cause a model to misclassify it.</a:t>
            </a:r>
            <a:endParaRPr sz="1300"/>
          </a:p>
          <a:p>
            <a:pPr indent="-311150" lvl="0" marL="457200" rtl="0" algn="l">
              <a:lnSpc>
                <a:spcPct val="150000"/>
              </a:lnSpc>
              <a:spcBef>
                <a:spcPts val="0"/>
              </a:spcBef>
              <a:spcAft>
                <a:spcPts val="0"/>
              </a:spcAft>
              <a:buSzPts val="1300"/>
              <a:buAutoNum type="arabicPeriod"/>
            </a:pPr>
            <a:r>
              <a:rPr lang="en" sz="1300"/>
              <a:t>Original image: Panda, 57.7% confidence</a:t>
            </a:r>
            <a:endParaRPr sz="1300"/>
          </a:p>
          <a:p>
            <a:pPr indent="-311150" lvl="0" marL="457200" rtl="0" algn="l">
              <a:lnSpc>
                <a:spcPct val="150000"/>
              </a:lnSpc>
              <a:spcBef>
                <a:spcPts val="0"/>
              </a:spcBef>
              <a:spcAft>
                <a:spcPts val="0"/>
              </a:spcAft>
              <a:buSzPts val="1300"/>
              <a:buAutoNum type="arabicPeriod"/>
            </a:pPr>
            <a:r>
              <a:rPr lang="en" sz="1300"/>
              <a:t>Perturbed image: Gibbon, 99.3% confidence</a:t>
            </a:r>
            <a:endParaRPr sz="1300"/>
          </a:p>
          <a:p>
            <a:pPr indent="0" lvl="0" marL="0" rtl="0" algn="l">
              <a:lnSpc>
                <a:spcPct val="150000"/>
              </a:lnSpc>
              <a:spcBef>
                <a:spcPts val="0"/>
              </a:spcBef>
              <a:spcAft>
                <a:spcPts val="0"/>
              </a:spcAft>
              <a:buNone/>
            </a:pPr>
            <a:r>
              <a:rPr lang="en" sz="1300"/>
              <a:t>The images look nearly identical to us, but the model’s prediction changes.</a:t>
            </a:r>
            <a:endParaRPr sz="1300"/>
          </a:p>
        </p:txBody>
      </p:sp>
      <p:pic>
        <p:nvPicPr>
          <p:cNvPr id="74" name="Google Shape;74;p14"/>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grpSp>
        <p:nvGrpSpPr>
          <p:cNvPr id="75" name="Google Shape;75;p14"/>
          <p:cNvGrpSpPr/>
          <p:nvPr/>
        </p:nvGrpSpPr>
        <p:grpSpPr>
          <a:xfrm>
            <a:off x="8414888" y="169062"/>
            <a:ext cx="537556" cy="136576"/>
            <a:chOff x="2641350" y="846250"/>
            <a:chExt cx="413600" cy="105075"/>
          </a:xfrm>
        </p:grpSpPr>
        <p:sp>
          <p:nvSpPr>
            <p:cNvPr id="76" name="Google Shape;76;p1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1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1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 name="Google Shape;80;p14"/>
          <p:cNvGrpSpPr/>
          <p:nvPr/>
        </p:nvGrpSpPr>
        <p:grpSpPr>
          <a:xfrm rot="10800000">
            <a:off x="205788" y="4842962"/>
            <a:ext cx="537556" cy="136576"/>
            <a:chOff x="2641350" y="846250"/>
            <a:chExt cx="413600" cy="105075"/>
          </a:xfrm>
        </p:grpSpPr>
        <p:sp>
          <p:nvSpPr>
            <p:cNvPr id="81" name="Google Shape;81;p1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1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1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5" name="Google Shape;85;p14"/>
          <p:cNvSpPr txBox="1"/>
          <p:nvPr>
            <p:ph idx="4294967295" type="body"/>
          </p:nvPr>
        </p:nvSpPr>
        <p:spPr>
          <a:xfrm>
            <a:off x="743350" y="4717600"/>
            <a:ext cx="3465000" cy="387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(Goodfellow et al., 2015, p. 3)</a:t>
            </a:r>
            <a:endParaRPr i="1" sz="13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Generate Adversarial Images with FGSM</a:t>
            </a:r>
            <a:endParaRPr sz="2220"/>
          </a:p>
        </p:txBody>
      </p:sp>
      <p:sp>
        <p:nvSpPr>
          <p:cNvPr id="91" name="Google Shape;91;p15"/>
          <p:cNvSpPr txBox="1"/>
          <p:nvPr>
            <p:ph idx="1" type="body"/>
          </p:nvPr>
        </p:nvSpPr>
        <p:spPr>
          <a:xfrm>
            <a:off x="311700" y="1840675"/>
            <a:ext cx="8295300" cy="1125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300"/>
              <a:t>where x: clean image input,</a:t>
            </a:r>
            <a:endParaRPr sz="1300"/>
          </a:p>
          <a:p>
            <a:pPr indent="457200" lvl="0" marL="0" rtl="0" algn="l">
              <a:spcBef>
                <a:spcPts val="0"/>
              </a:spcBef>
              <a:spcAft>
                <a:spcPts val="0"/>
              </a:spcAft>
              <a:buNone/>
            </a:pPr>
            <a:r>
              <a:rPr lang="en" sz="1300"/>
              <a:t> </a:t>
            </a:r>
            <a:r>
              <a:rPr lang="en" sz="1300"/>
              <a:t>ε: size of allowed change,</a:t>
            </a:r>
            <a:endParaRPr sz="1300"/>
          </a:p>
          <a:p>
            <a:pPr indent="0" lvl="0" marL="457200" rtl="0" algn="l">
              <a:spcBef>
                <a:spcPts val="0"/>
              </a:spcBef>
              <a:spcAft>
                <a:spcPts val="0"/>
              </a:spcAft>
              <a:buClr>
                <a:schemeClr val="dk1"/>
              </a:buClr>
              <a:buSzPts val="1100"/>
              <a:buFont typeface="Arial"/>
              <a:buNone/>
            </a:pPr>
            <a:r>
              <a:rPr lang="en" sz="1300"/>
              <a:t> η: the perturbation,</a:t>
            </a:r>
            <a:endParaRPr sz="1300"/>
          </a:p>
          <a:p>
            <a:pPr indent="0" lvl="0" marL="457200" rtl="0" algn="l">
              <a:spcBef>
                <a:spcPts val="0"/>
              </a:spcBef>
              <a:spcAft>
                <a:spcPts val="0"/>
              </a:spcAft>
              <a:buClr>
                <a:schemeClr val="dk1"/>
              </a:buClr>
              <a:buSzPts val="1100"/>
              <a:buFont typeface="Arial"/>
              <a:buNone/>
            </a:pPr>
            <a:r>
              <a:rPr lang="en" sz="1300"/>
              <a:t> </a:t>
            </a:r>
            <a:r>
              <a:rPr lang="en" sz="1300"/>
              <a:t>x</a:t>
            </a:r>
            <a:r>
              <a:rPr lang="en" sz="1300"/>
              <a:t>̃: adversarial image output.</a:t>
            </a:r>
            <a:endParaRPr sz="1300"/>
          </a:p>
        </p:txBody>
      </p:sp>
      <p:pic>
        <p:nvPicPr>
          <p:cNvPr id="92" name="Google Shape;92;p15" title="equation.png"/>
          <p:cNvPicPr preferRelativeResize="0"/>
          <p:nvPr/>
        </p:nvPicPr>
        <p:blipFill>
          <a:blip r:embed="rId3">
            <a:alphaModFix/>
          </a:blip>
          <a:stretch>
            <a:fillRect/>
          </a:stretch>
        </p:blipFill>
        <p:spPr>
          <a:xfrm>
            <a:off x="2314944" y="1348570"/>
            <a:ext cx="4514232" cy="266716"/>
          </a:xfrm>
          <a:prstGeom prst="rect">
            <a:avLst/>
          </a:prstGeom>
          <a:noFill/>
          <a:ln>
            <a:noFill/>
          </a:ln>
        </p:spPr>
      </p:pic>
      <p:sp>
        <p:nvSpPr>
          <p:cNvPr id="93" name="Google Shape;93;p15"/>
          <p:cNvSpPr/>
          <p:nvPr/>
        </p:nvSpPr>
        <p:spPr>
          <a:xfrm>
            <a:off x="2059351" y="1195588"/>
            <a:ext cx="5025300" cy="572700"/>
          </a:xfrm>
          <a:prstGeom prst="rect">
            <a:avLst/>
          </a:prstGeom>
          <a:noFill/>
          <a:ln cap="flat" cmpd="sng" w="19050">
            <a:solidFill>
              <a:schemeClr val="dk1"/>
            </a:solidFill>
            <a:prstDash val="solid"/>
            <a:round/>
            <a:headEnd len="sm" w="sm" type="none"/>
            <a:tailEnd len="sm" w="sm" type="none"/>
          </a:ln>
        </p:spPr>
        <p:txBody>
          <a:bodyPr anchorCtr="0" anchor="ctr" bIns="91400" lIns="91400" spcFirstLastPara="1" rIns="91400" wrap="square" tIns="91400">
            <a:noAutofit/>
          </a:bodyPr>
          <a:lstStyle/>
          <a:p>
            <a:pPr indent="0" lvl="0" marL="0" rtl="0" algn="ctr">
              <a:spcBef>
                <a:spcPts val="0"/>
              </a:spcBef>
              <a:spcAft>
                <a:spcPts val="0"/>
              </a:spcAft>
              <a:buNone/>
            </a:pPr>
            <a:r>
              <a:t/>
            </a:r>
            <a:endParaRPr sz="1400"/>
          </a:p>
        </p:txBody>
      </p:sp>
      <p:grpSp>
        <p:nvGrpSpPr>
          <p:cNvPr id="94" name="Google Shape;94;p15"/>
          <p:cNvGrpSpPr/>
          <p:nvPr/>
        </p:nvGrpSpPr>
        <p:grpSpPr>
          <a:xfrm rot="10800000">
            <a:off x="205788" y="4842962"/>
            <a:ext cx="537556" cy="136576"/>
            <a:chOff x="2641350" y="846250"/>
            <a:chExt cx="413600" cy="105075"/>
          </a:xfrm>
        </p:grpSpPr>
        <p:sp>
          <p:nvSpPr>
            <p:cNvPr id="95" name="Google Shape;95;p1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1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1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 name="Google Shape;99;p15"/>
          <p:cNvGrpSpPr/>
          <p:nvPr/>
        </p:nvGrpSpPr>
        <p:grpSpPr>
          <a:xfrm>
            <a:off x="8414888" y="169062"/>
            <a:ext cx="537556" cy="136576"/>
            <a:chOff x="2641350" y="846250"/>
            <a:chExt cx="413600" cy="105075"/>
          </a:xfrm>
        </p:grpSpPr>
        <p:sp>
          <p:nvSpPr>
            <p:cNvPr id="100" name="Google Shape;100;p1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1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104" name="Google Shape;104;p15"/>
          <p:cNvCxnSpPr/>
          <p:nvPr/>
        </p:nvCxnSpPr>
        <p:spPr>
          <a:xfrm>
            <a:off x="393963" y="3074925"/>
            <a:ext cx="8356200" cy="0"/>
          </a:xfrm>
          <a:prstGeom prst="straightConnector1">
            <a:avLst/>
          </a:prstGeom>
          <a:noFill/>
          <a:ln cap="flat" cmpd="sng" w="28575">
            <a:solidFill>
              <a:schemeClr val="dk2"/>
            </a:solidFill>
            <a:prstDash val="solid"/>
            <a:round/>
            <a:headEnd len="med" w="med" type="none"/>
            <a:tailEnd len="med" w="med" type="none"/>
          </a:ln>
        </p:spPr>
      </p:cxnSp>
      <p:sp>
        <p:nvSpPr>
          <p:cNvPr id="105" name="Google Shape;105;p15"/>
          <p:cNvSpPr txBox="1"/>
          <p:nvPr/>
        </p:nvSpPr>
        <p:spPr>
          <a:xfrm>
            <a:off x="393975" y="3183575"/>
            <a:ext cx="3975000" cy="1433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300">
                <a:solidFill>
                  <a:schemeClr val="dk2"/>
                </a:solidFill>
              </a:rPr>
              <a:t>How It Works:</a:t>
            </a:r>
            <a:endParaRPr sz="1300">
              <a:solidFill>
                <a:schemeClr val="dk2"/>
              </a:solidFill>
            </a:endParaRPr>
          </a:p>
          <a:p>
            <a:pPr indent="-311150" lvl="0" marL="457200" rtl="0" algn="l">
              <a:lnSpc>
                <a:spcPct val="115000"/>
              </a:lnSpc>
              <a:spcBef>
                <a:spcPts val="1000"/>
              </a:spcBef>
              <a:spcAft>
                <a:spcPts val="0"/>
              </a:spcAft>
              <a:buClr>
                <a:schemeClr val="dk2"/>
              </a:buClr>
              <a:buSzPts val="1300"/>
              <a:buAutoNum type="arabicPeriod"/>
            </a:pPr>
            <a:r>
              <a:rPr lang="en" sz="1300">
                <a:solidFill>
                  <a:schemeClr val="dk2"/>
                </a:solidFill>
              </a:rPr>
              <a:t>Compute the loss gradient with respect to the image.</a:t>
            </a:r>
            <a:endParaRPr sz="1300">
              <a:solidFill>
                <a:schemeClr val="dk2"/>
              </a:solidFill>
            </a:endParaRPr>
          </a:p>
          <a:p>
            <a:pPr indent="-311150" lvl="0" marL="457200" rtl="0" algn="l">
              <a:lnSpc>
                <a:spcPct val="115000"/>
              </a:lnSpc>
              <a:spcBef>
                <a:spcPts val="0"/>
              </a:spcBef>
              <a:spcAft>
                <a:spcPts val="0"/>
              </a:spcAft>
              <a:buClr>
                <a:schemeClr val="dk2"/>
              </a:buClr>
              <a:buSzPts val="1300"/>
              <a:buAutoNum type="arabicPeriod"/>
            </a:pPr>
            <a:r>
              <a:rPr lang="en" sz="1300">
                <a:solidFill>
                  <a:schemeClr val="dk2"/>
                </a:solidFill>
              </a:rPr>
              <a:t>Take its sign.</a:t>
            </a:r>
            <a:endParaRPr sz="1300">
              <a:solidFill>
                <a:schemeClr val="dk2"/>
              </a:solidFill>
            </a:endParaRPr>
          </a:p>
          <a:p>
            <a:pPr indent="-311150" lvl="0" marL="457200" rtl="0" algn="l">
              <a:lnSpc>
                <a:spcPct val="115000"/>
              </a:lnSpc>
              <a:spcBef>
                <a:spcPts val="0"/>
              </a:spcBef>
              <a:spcAft>
                <a:spcPts val="0"/>
              </a:spcAft>
              <a:buClr>
                <a:schemeClr val="dk2"/>
              </a:buClr>
              <a:buSzPts val="1300"/>
              <a:buAutoNum type="arabicPeriod"/>
            </a:pPr>
            <a:r>
              <a:rPr lang="en" sz="1300">
                <a:solidFill>
                  <a:schemeClr val="dk2"/>
                </a:solidFill>
              </a:rPr>
              <a:t>Scale by ε and add it to the image.</a:t>
            </a:r>
            <a:endParaRPr sz="1300">
              <a:solidFill>
                <a:schemeClr val="dk2"/>
              </a:solidFill>
            </a:endParaRPr>
          </a:p>
        </p:txBody>
      </p:sp>
      <p:pic>
        <p:nvPicPr>
          <p:cNvPr id="106" name="Google Shape;106;p15"/>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107" name="Google Shape;107;p15"/>
          <p:cNvSpPr txBox="1"/>
          <p:nvPr/>
        </p:nvSpPr>
        <p:spPr>
          <a:xfrm>
            <a:off x="4572000" y="3183575"/>
            <a:ext cx="3975000" cy="973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300">
                <a:solidFill>
                  <a:schemeClr val="dk2"/>
                </a:solidFill>
              </a:rPr>
              <a:t>Reason Why It Works:</a:t>
            </a:r>
            <a:endParaRPr sz="1300">
              <a:solidFill>
                <a:schemeClr val="dk2"/>
              </a:solidFill>
            </a:endParaRPr>
          </a:p>
          <a:p>
            <a:pPr indent="0" lvl="0" marL="0" rtl="0" algn="l">
              <a:lnSpc>
                <a:spcPct val="115000"/>
              </a:lnSpc>
              <a:spcBef>
                <a:spcPts val="1000"/>
              </a:spcBef>
              <a:spcAft>
                <a:spcPts val="1000"/>
              </a:spcAft>
              <a:buNone/>
            </a:pPr>
            <a:r>
              <a:rPr lang="en" sz="1300">
                <a:solidFill>
                  <a:schemeClr val="dk2"/>
                </a:solidFill>
              </a:rPr>
              <a:t>Small changes across many pixels can combine to produce a large change in the model’s output.</a:t>
            </a:r>
            <a:endParaRPr sz="1300">
              <a:solidFill>
                <a:schemeClr val="dk2"/>
              </a:solidFill>
            </a:endParaRPr>
          </a:p>
        </p:txBody>
      </p:sp>
      <p:sp>
        <p:nvSpPr>
          <p:cNvPr id="108" name="Google Shape;108;p15"/>
          <p:cNvSpPr txBox="1"/>
          <p:nvPr>
            <p:ph idx="1" type="body"/>
          </p:nvPr>
        </p:nvSpPr>
        <p:spPr>
          <a:xfrm>
            <a:off x="743350" y="4717600"/>
            <a:ext cx="3465000" cy="387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(Goodfellow et al., 2015, pp. 2–3)</a:t>
            </a:r>
            <a:endParaRPr i="1" sz="1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pic>
        <p:nvPicPr>
          <p:cNvPr id="113" name="Google Shape;113;p16"/>
          <p:cNvPicPr preferRelativeResize="0"/>
          <p:nvPr/>
        </p:nvPicPr>
        <p:blipFill>
          <a:blip r:embed="rId3">
            <a:alphaModFix/>
          </a:blip>
          <a:stretch>
            <a:fillRect/>
          </a:stretch>
        </p:blipFill>
        <p:spPr>
          <a:xfrm>
            <a:off x="4913275" y="567975"/>
            <a:ext cx="3799976" cy="4274973"/>
          </a:xfrm>
          <a:prstGeom prst="rect">
            <a:avLst/>
          </a:prstGeom>
          <a:noFill/>
          <a:ln>
            <a:noFill/>
          </a:ln>
        </p:spPr>
      </p:pic>
      <p:sp>
        <p:nvSpPr>
          <p:cNvPr id="114" name="Google Shape;114;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PGD and Adversarial Training</a:t>
            </a:r>
            <a:endParaRPr sz="2220"/>
          </a:p>
        </p:txBody>
      </p:sp>
      <p:grpSp>
        <p:nvGrpSpPr>
          <p:cNvPr id="115" name="Google Shape;115;p16"/>
          <p:cNvGrpSpPr/>
          <p:nvPr/>
        </p:nvGrpSpPr>
        <p:grpSpPr>
          <a:xfrm>
            <a:off x="8414888" y="169062"/>
            <a:ext cx="537556" cy="136576"/>
            <a:chOff x="2641350" y="846250"/>
            <a:chExt cx="413600" cy="105075"/>
          </a:xfrm>
        </p:grpSpPr>
        <p:sp>
          <p:nvSpPr>
            <p:cNvPr id="116" name="Google Shape;116;p1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 name="Google Shape;120;p16"/>
          <p:cNvGrpSpPr/>
          <p:nvPr/>
        </p:nvGrpSpPr>
        <p:grpSpPr>
          <a:xfrm rot="10800000">
            <a:off x="205788" y="4842962"/>
            <a:ext cx="537556" cy="136576"/>
            <a:chOff x="2641350" y="846250"/>
            <a:chExt cx="413600" cy="105075"/>
          </a:xfrm>
        </p:grpSpPr>
        <p:sp>
          <p:nvSpPr>
            <p:cNvPr id="121" name="Google Shape;121;p1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25" name="Google Shape;125;p16"/>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126" name="Google Shape;126;p16"/>
          <p:cNvSpPr txBox="1"/>
          <p:nvPr>
            <p:ph idx="1" type="body"/>
          </p:nvPr>
        </p:nvSpPr>
        <p:spPr>
          <a:xfrm>
            <a:off x="311700" y="1106075"/>
            <a:ext cx="3929700" cy="2802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 sz="1300"/>
              <a:t>PGD:</a:t>
            </a:r>
            <a:r>
              <a:rPr lang="en" sz="1300"/>
              <a:t> Projected Gradient Descent</a:t>
            </a:r>
            <a:endParaRPr sz="1300"/>
          </a:p>
          <a:p>
            <a:pPr indent="0" lvl="0" marL="0" rtl="0" algn="l">
              <a:lnSpc>
                <a:spcPct val="115000"/>
              </a:lnSpc>
              <a:spcBef>
                <a:spcPts val="1000"/>
              </a:spcBef>
              <a:spcAft>
                <a:spcPts val="0"/>
              </a:spcAft>
              <a:buNone/>
            </a:pPr>
            <a:r>
              <a:rPr lang="en" sz="1300"/>
              <a:t>PGD repeatedly updates an image to increase the model’s loss while enforcing a perturbation limit.</a:t>
            </a:r>
            <a:endParaRPr sz="1300"/>
          </a:p>
          <a:p>
            <a:pPr indent="0" lvl="0" marL="0" rtl="0" algn="l">
              <a:lnSpc>
                <a:spcPct val="115000"/>
              </a:lnSpc>
              <a:spcBef>
                <a:spcPts val="1000"/>
              </a:spcBef>
              <a:spcAft>
                <a:spcPts val="0"/>
              </a:spcAft>
              <a:buNone/>
            </a:pPr>
            <a:r>
              <a:t/>
            </a:r>
            <a:endParaRPr sz="1300"/>
          </a:p>
          <a:p>
            <a:pPr indent="0" lvl="0" marL="0" rtl="0" algn="l">
              <a:lnSpc>
                <a:spcPct val="115000"/>
              </a:lnSpc>
              <a:spcBef>
                <a:spcPts val="1000"/>
              </a:spcBef>
              <a:spcAft>
                <a:spcPts val="0"/>
              </a:spcAft>
              <a:buNone/>
            </a:pPr>
            <a:r>
              <a:rPr b="1" lang="en" sz="1300"/>
              <a:t>Difference between PGD and FGSM:</a:t>
            </a:r>
            <a:endParaRPr b="1" sz="1300"/>
          </a:p>
          <a:p>
            <a:pPr indent="0" lvl="0" marL="0" rtl="0" algn="l">
              <a:lnSpc>
                <a:spcPct val="115000"/>
              </a:lnSpc>
              <a:spcBef>
                <a:spcPts val="1000"/>
              </a:spcBef>
              <a:spcAft>
                <a:spcPts val="1000"/>
              </a:spcAft>
              <a:buNone/>
            </a:pPr>
            <a:r>
              <a:rPr lang="en" sz="1300"/>
              <a:t>FGSM takes one gradient step. PGD takes multiple smaller steps, recalculating the gradient and enforcing the perturbation constraints after each step.</a:t>
            </a:r>
            <a:endParaRPr sz="1300"/>
          </a:p>
        </p:txBody>
      </p:sp>
      <p:sp>
        <p:nvSpPr>
          <p:cNvPr id="127" name="Google Shape;127;p16"/>
          <p:cNvSpPr txBox="1"/>
          <p:nvPr>
            <p:ph idx="1" type="body"/>
          </p:nvPr>
        </p:nvSpPr>
        <p:spPr>
          <a:xfrm>
            <a:off x="743350" y="4717600"/>
            <a:ext cx="3465000" cy="387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(Madry et al., 2018, pp. 3–4)</a:t>
            </a:r>
            <a:endParaRPr i="1" sz="13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Robust Overfitting and Early Stopping</a:t>
            </a:r>
            <a:endParaRPr sz="2220"/>
          </a:p>
        </p:txBody>
      </p:sp>
      <p:grpSp>
        <p:nvGrpSpPr>
          <p:cNvPr id="133" name="Google Shape;133;p17"/>
          <p:cNvGrpSpPr/>
          <p:nvPr/>
        </p:nvGrpSpPr>
        <p:grpSpPr>
          <a:xfrm rot="10800000">
            <a:off x="205788" y="4842962"/>
            <a:ext cx="537556" cy="136576"/>
            <a:chOff x="2641350" y="846250"/>
            <a:chExt cx="413600" cy="105075"/>
          </a:xfrm>
        </p:grpSpPr>
        <p:sp>
          <p:nvSpPr>
            <p:cNvPr id="134" name="Google Shape;134;p1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1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8" name="Google Shape;138;p17"/>
          <p:cNvGrpSpPr/>
          <p:nvPr/>
        </p:nvGrpSpPr>
        <p:grpSpPr>
          <a:xfrm>
            <a:off x="8414888" y="169062"/>
            <a:ext cx="537556" cy="136576"/>
            <a:chOff x="2641350" y="846250"/>
            <a:chExt cx="413600" cy="105075"/>
          </a:xfrm>
        </p:grpSpPr>
        <p:sp>
          <p:nvSpPr>
            <p:cNvPr id="139" name="Google Shape;139;p1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1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43" name="Google Shape;143;p17"/>
          <p:cNvPicPr preferRelativeResize="0"/>
          <p:nvPr/>
        </p:nvPicPr>
        <p:blipFill>
          <a:blip r:embed="rId3">
            <a:alphaModFix/>
          </a:blip>
          <a:stretch>
            <a:fillRect/>
          </a:stretch>
        </p:blipFill>
        <p:spPr>
          <a:xfrm>
            <a:off x="5156075" y="2924987"/>
            <a:ext cx="3287301" cy="2054563"/>
          </a:xfrm>
          <a:prstGeom prst="rect">
            <a:avLst/>
          </a:prstGeom>
          <a:noFill/>
          <a:ln>
            <a:noFill/>
          </a:ln>
        </p:spPr>
      </p:pic>
      <p:pic>
        <p:nvPicPr>
          <p:cNvPr id="144" name="Google Shape;144;p17"/>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145" name="Google Shape;145;p17"/>
          <p:cNvSpPr txBox="1"/>
          <p:nvPr>
            <p:ph idx="1" type="body"/>
          </p:nvPr>
        </p:nvSpPr>
        <p:spPr>
          <a:xfrm>
            <a:off x="311700" y="1106075"/>
            <a:ext cx="4511100" cy="353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500"/>
              <a:t>Robust overfitting:</a:t>
            </a:r>
            <a:endParaRPr sz="1500"/>
          </a:p>
          <a:p>
            <a:pPr indent="0" lvl="0" marL="0" rtl="0" algn="l">
              <a:spcBef>
                <a:spcPts val="1000"/>
              </a:spcBef>
              <a:spcAft>
                <a:spcPts val="0"/>
              </a:spcAft>
              <a:buNone/>
            </a:pPr>
            <a:r>
              <a:rPr lang="en" sz="1300"/>
              <a:t>Robust test performance deteriorates after reaching its best point, even as training performance continues to improve.</a:t>
            </a:r>
            <a:endParaRPr sz="1300"/>
          </a:p>
          <a:p>
            <a:pPr indent="0" lvl="0" marL="0" rtl="0" algn="l">
              <a:spcBef>
                <a:spcPts val="1000"/>
              </a:spcBef>
              <a:spcAft>
                <a:spcPts val="0"/>
              </a:spcAft>
              <a:buNone/>
            </a:pPr>
            <a:r>
              <a:rPr b="1" lang="en" sz="1500"/>
              <a:t>Robust test error:</a:t>
            </a:r>
            <a:endParaRPr sz="1500"/>
          </a:p>
          <a:p>
            <a:pPr indent="0" lvl="0" marL="0" rtl="0" algn="l">
              <a:spcBef>
                <a:spcPts val="1000"/>
              </a:spcBef>
              <a:spcAft>
                <a:spcPts val="0"/>
              </a:spcAft>
              <a:buNone/>
            </a:pPr>
            <a:r>
              <a:rPr lang="en" sz="1300"/>
              <a:t>Percentage of attacked test images the model misclassified.</a:t>
            </a:r>
            <a:endParaRPr sz="1300"/>
          </a:p>
          <a:p>
            <a:pPr indent="0" lvl="0" marL="0" rtl="0" algn="l">
              <a:spcBef>
                <a:spcPts val="1000"/>
              </a:spcBef>
              <a:spcAft>
                <a:spcPts val="0"/>
              </a:spcAft>
              <a:buNone/>
            </a:pPr>
            <a:r>
              <a:rPr b="1" lang="en" sz="1500"/>
              <a:t>Early stopping:</a:t>
            </a:r>
            <a:endParaRPr sz="1500"/>
          </a:p>
          <a:p>
            <a:pPr indent="0" lvl="0" marL="0" rtl="0" algn="l">
              <a:spcBef>
                <a:spcPts val="1000"/>
              </a:spcBef>
              <a:spcAft>
                <a:spcPts val="0"/>
              </a:spcAft>
              <a:buNone/>
            </a:pPr>
            <a:r>
              <a:rPr lang="en" sz="1300"/>
              <a:t>Select the checkpoint with the best adversarial accuracy on a held-out validation set.</a:t>
            </a:r>
            <a:endParaRPr sz="1300"/>
          </a:p>
          <a:p>
            <a:pPr indent="0" lvl="0" marL="0" rtl="0" algn="l">
              <a:spcBef>
                <a:spcPts val="1000"/>
              </a:spcBef>
              <a:spcAft>
                <a:spcPts val="0"/>
              </a:spcAft>
              <a:buNone/>
            </a:pPr>
            <a:r>
              <a:rPr lang="en" sz="1300"/>
              <a:t>The best checkpoint may occur before the end of training.</a:t>
            </a:r>
            <a:endParaRPr sz="1300"/>
          </a:p>
          <a:p>
            <a:pPr indent="0" lvl="0" marL="0" rtl="0" algn="l">
              <a:lnSpc>
                <a:spcPct val="115000"/>
              </a:lnSpc>
              <a:spcBef>
                <a:spcPts val="1000"/>
              </a:spcBef>
              <a:spcAft>
                <a:spcPts val="1000"/>
              </a:spcAft>
              <a:buNone/>
            </a:pPr>
            <a:r>
              <a:t/>
            </a:r>
            <a:endParaRPr b="1" sz="1300"/>
          </a:p>
        </p:txBody>
      </p:sp>
      <p:sp>
        <p:nvSpPr>
          <p:cNvPr id="146" name="Google Shape;146;p17"/>
          <p:cNvSpPr txBox="1"/>
          <p:nvPr>
            <p:ph idx="1" type="body"/>
          </p:nvPr>
        </p:nvSpPr>
        <p:spPr>
          <a:xfrm>
            <a:off x="743350" y="4717600"/>
            <a:ext cx="3465000" cy="387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(Rice et al., 2020, pp. 4, 6)</a:t>
            </a:r>
            <a:endParaRPr i="1" sz="1300"/>
          </a:p>
        </p:txBody>
      </p:sp>
      <p:pic>
        <p:nvPicPr>
          <p:cNvPr id="147" name="Google Shape;147;p17" title="Screenshot 2026-09-18 at 9.03.54 AM.png"/>
          <p:cNvPicPr preferRelativeResize="0"/>
          <p:nvPr/>
        </p:nvPicPr>
        <p:blipFill>
          <a:blip r:embed="rId5">
            <a:alphaModFix/>
          </a:blip>
          <a:stretch>
            <a:fillRect/>
          </a:stretch>
        </p:blipFill>
        <p:spPr>
          <a:xfrm>
            <a:off x="5388800" y="489437"/>
            <a:ext cx="3054576" cy="2251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Attack Domains and Training Conditions</a:t>
            </a:r>
            <a:endParaRPr sz="2220"/>
          </a:p>
        </p:txBody>
      </p:sp>
      <p:grpSp>
        <p:nvGrpSpPr>
          <p:cNvPr id="153" name="Google Shape;153;p18"/>
          <p:cNvGrpSpPr/>
          <p:nvPr/>
        </p:nvGrpSpPr>
        <p:grpSpPr>
          <a:xfrm rot="10800000">
            <a:off x="205788" y="4842962"/>
            <a:ext cx="537556" cy="136576"/>
            <a:chOff x="2641350" y="846250"/>
            <a:chExt cx="413600" cy="105075"/>
          </a:xfrm>
        </p:grpSpPr>
        <p:sp>
          <p:nvSpPr>
            <p:cNvPr id="154" name="Google Shape;154;p1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8" name="Google Shape;158;p18"/>
          <p:cNvGrpSpPr/>
          <p:nvPr/>
        </p:nvGrpSpPr>
        <p:grpSpPr>
          <a:xfrm>
            <a:off x="8414888" y="169062"/>
            <a:ext cx="537556" cy="136576"/>
            <a:chOff x="2641350" y="846250"/>
            <a:chExt cx="413600" cy="105075"/>
          </a:xfrm>
        </p:grpSpPr>
        <p:sp>
          <p:nvSpPr>
            <p:cNvPr id="159" name="Google Shape;159;p1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1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1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1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3" name="Google Shape;163;p18"/>
          <p:cNvSpPr txBox="1"/>
          <p:nvPr>
            <p:ph idx="1" type="body"/>
          </p:nvPr>
        </p:nvSpPr>
        <p:spPr>
          <a:xfrm>
            <a:off x="311700" y="1017725"/>
            <a:ext cx="4260300" cy="3676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 sz="1500"/>
              <a:t>Pixel-space PGD:</a:t>
            </a:r>
            <a:endParaRPr b="1" sz="1500"/>
          </a:p>
          <a:p>
            <a:pPr indent="0" lvl="0" marL="0" rtl="0" algn="l">
              <a:spcBef>
                <a:spcPts val="1200"/>
              </a:spcBef>
              <a:spcAft>
                <a:spcPts val="0"/>
              </a:spcAft>
              <a:buClr>
                <a:schemeClr val="dk1"/>
              </a:buClr>
              <a:buSzPts val="1100"/>
              <a:buFont typeface="Arial"/>
              <a:buNone/>
            </a:pPr>
            <a:r>
              <a:rPr lang="en" sz="1300"/>
              <a:t>Changes pixel values within the allowed perturbation budget, without a frequency restriction.</a:t>
            </a:r>
            <a:endParaRPr sz="1300"/>
          </a:p>
          <a:p>
            <a:pPr indent="0" lvl="0" marL="0" rtl="0" algn="l">
              <a:spcBef>
                <a:spcPts val="1200"/>
              </a:spcBef>
              <a:spcAft>
                <a:spcPts val="0"/>
              </a:spcAft>
              <a:buClr>
                <a:schemeClr val="dk1"/>
              </a:buClr>
              <a:buSzPts val="1100"/>
              <a:buFont typeface="Arial"/>
              <a:buNone/>
            </a:pPr>
            <a:r>
              <a:t/>
            </a:r>
            <a:endParaRPr sz="1300"/>
          </a:p>
          <a:p>
            <a:pPr indent="0" lvl="0" marL="0" rtl="0" algn="l">
              <a:spcBef>
                <a:spcPts val="1200"/>
              </a:spcBef>
              <a:spcAft>
                <a:spcPts val="0"/>
              </a:spcAft>
              <a:buClr>
                <a:schemeClr val="dk1"/>
              </a:buClr>
              <a:buSzPts val="1100"/>
              <a:buFont typeface="Arial"/>
              <a:buNone/>
            </a:pPr>
            <a:r>
              <a:rPr b="1" lang="en" sz="1500"/>
              <a:t>Low-frequency DCT-masked PGD:</a:t>
            </a:r>
            <a:endParaRPr b="1" sz="1500"/>
          </a:p>
          <a:p>
            <a:pPr indent="0" lvl="0" marL="0" rtl="0" algn="l">
              <a:spcBef>
                <a:spcPts val="1200"/>
              </a:spcBef>
              <a:spcAft>
                <a:spcPts val="0"/>
              </a:spcAft>
              <a:buClr>
                <a:schemeClr val="dk1"/>
              </a:buClr>
              <a:buSzPts val="1100"/>
              <a:buFont typeface="Arial"/>
              <a:buNone/>
            </a:pPr>
            <a:r>
              <a:rPr lang="en" sz="1300"/>
              <a:t>Builds perturbations from smooth patterns that change gradually across the image. We use DCT, which represents an image using patterns at different spatial frequencies, and retain only an 8 × 8 block of low-frequency coefficients per color channel.</a:t>
            </a:r>
            <a:endParaRPr sz="1300"/>
          </a:p>
          <a:p>
            <a:pPr indent="0" lvl="0" marL="0" rtl="0" algn="l">
              <a:spcBef>
                <a:spcPts val="1200"/>
              </a:spcBef>
              <a:spcAft>
                <a:spcPts val="1200"/>
              </a:spcAft>
              <a:buNone/>
            </a:pPr>
            <a:r>
              <a:rPr lang="en" sz="1300"/>
              <a:t>Both attacks use the same maximum pixel-change budget: ε = 8/255.</a:t>
            </a:r>
            <a:endParaRPr sz="1300"/>
          </a:p>
        </p:txBody>
      </p:sp>
      <p:pic>
        <p:nvPicPr>
          <p:cNvPr id="164" name="Google Shape;164;p18"/>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graphicFrame>
        <p:nvGraphicFramePr>
          <p:cNvPr id="165" name="Google Shape;165;p18"/>
          <p:cNvGraphicFramePr/>
          <p:nvPr/>
        </p:nvGraphicFramePr>
        <p:xfrm>
          <a:off x="4873150" y="1244838"/>
          <a:ext cx="3000000" cy="3000000"/>
        </p:xfrm>
        <a:graphic>
          <a:graphicData uri="http://schemas.openxmlformats.org/drawingml/2006/table">
            <a:tbl>
              <a:tblPr>
                <a:noFill/>
                <a:tableStyleId>{D3EC85C8-AC7A-468B-9DC8-D27FF14A4FE0}</a:tableStyleId>
              </a:tblPr>
              <a:tblGrid>
                <a:gridCol w="1380025"/>
                <a:gridCol w="2579125"/>
              </a:tblGrid>
              <a:tr h="579150">
                <a:tc>
                  <a:txBody>
                    <a:bodyPr/>
                    <a:lstStyle/>
                    <a:p>
                      <a:pPr indent="0" lvl="0" marL="0" rtl="0" algn="l">
                        <a:spcBef>
                          <a:spcPts val="0"/>
                        </a:spcBef>
                        <a:spcAft>
                          <a:spcPts val="0"/>
                        </a:spcAft>
                        <a:buNone/>
                      </a:pPr>
                      <a:r>
                        <a:rPr b="1" lang="en" sz="1300"/>
                        <a:t>Training Condition</a:t>
                      </a:r>
                      <a:endParaRPr b="1"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 sz="1300"/>
                        <a:t>Attack Used During Training</a:t>
                      </a:r>
                      <a:endParaRPr b="1"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759375">
                <a:tc>
                  <a:txBody>
                    <a:bodyPr/>
                    <a:lstStyle/>
                    <a:p>
                      <a:pPr indent="0" lvl="0" marL="0" rtl="0" algn="l">
                        <a:spcBef>
                          <a:spcPts val="0"/>
                        </a:spcBef>
                        <a:spcAft>
                          <a:spcPts val="0"/>
                        </a:spcAft>
                        <a:buNone/>
                      </a:pPr>
                      <a:r>
                        <a:rPr lang="en" sz="1300"/>
                        <a:t>Pixel-only</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300"/>
                        <a:t>Pixel PGD in every epoch</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759375">
                <a:tc>
                  <a:txBody>
                    <a:bodyPr/>
                    <a:lstStyle/>
                    <a:p>
                      <a:pPr indent="0" lvl="0" marL="0" rtl="0" algn="l">
                        <a:spcBef>
                          <a:spcPts val="0"/>
                        </a:spcBef>
                        <a:spcAft>
                          <a:spcPts val="0"/>
                        </a:spcAft>
                        <a:buNone/>
                      </a:pPr>
                      <a:r>
                        <a:rPr lang="en" sz="1300"/>
                        <a:t>Low-frequency-only</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300"/>
                        <a:t>Low-frequency PGD in every epoch</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759375">
                <a:tc>
                  <a:txBody>
                    <a:bodyPr/>
                    <a:lstStyle/>
                    <a:p>
                      <a:pPr indent="0" lvl="0" marL="0" rtl="0" algn="l">
                        <a:spcBef>
                          <a:spcPts val="0"/>
                        </a:spcBef>
                        <a:spcAft>
                          <a:spcPts val="0"/>
                        </a:spcAft>
                        <a:buNone/>
                      </a:pPr>
                      <a:r>
                        <a:rPr lang="en" sz="1300"/>
                        <a:t>Mixed-domain</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300"/>
                        <a:t>Independently choose either attack with 50% probability each epoch</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bl>
          </a:graphicData>
        </a:graphic>
      </p:graphicFrame>
      <p:cxnSp>
        <p:nvCxnSpPr>
          <p:cNvPr id="166" name="Google Shape;166;p18"/>
          <p:cNvCxnSpPr/>
          <p:nvPr/>
        </p:nvCxnSpPr>
        <p:spPr>
          <a:xfrm>
            <a:off x="387475" y="2271100"/>
            <a:ext cx="705600" cy="0"/>
          </a:xfrm>
          <a:prstGeom prst="straightConnector1">
            <a:avLst/>
          </a:prstGeom>
          <a:noFill/>
          <a:ln cap="flat" cmpd="sng" w="38100">
            <a:solidFill>
              <a:schemeClr val="dk2"/>
            </a:solidFill>
            <a:prstDash val="solid"/>
            <a:round/>
            <a:headEnd len="med" w="med" type="none"/>
            <a:tailEnd len="med" w="med" type="none"/>
          </a:ln>
        </p:spPr>
      </p:cxnSp>
      <p:sp>
        <p:nvSpPr>
          <p:cNvPr id="167" name="Google Shape;167;p18"/>
          <p:cNvSpPr txBox="1"/>
          <p:nvPr>
            <p:ph idx="1" type="body"/>
          </p:nvPr>
        </p:nvSpPr>
        <p:spPr>
          <a:xfrm>
            <a:off x="743350" y="4717600"/>
            <a:ext cx="5436000" cy="3336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(Low-frequency DCT approach: Guo et al. (2020), PDF p. 3.)</a:t>
            </a:r>
            <a:endParaRPr i="1" sz="13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Our Research: Question and Motivation</a:t>
            </a:r>
            <a:endParaRPr sz="2220"/>
          </a:p>
        </p:txBody>
      </p:sp>
      <p:grpSp>
        <p:nvGrpSpPr>
          <p:cNvPr id="173" name="Google Shape;173;p19"/>
          <p:cNvGrpSpPr/>
          <p:nvPr/>
        </p:nvGrpSpPr>
        <p:grpSpPr>
          <a:xfrm rot="10800000">
            <a:off x="205788" y="4842962"/>
            <a:ext cx="537556" cy="136576"/>
            <a:chOff x="2641350" y="846250"/>
            <a:chExt cx="413600" cy="105075"/>
          </a:xfrm>
        </p:grpSpPr>
        <p:sp>
          <p:nvSpPr>
            <p:cNvPr id="174" name="Google Shape;174;p1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 name="Google Shape;178;p19"/>
          <p:cNvGrpSpPr/>
          <p:nvPr/>
        </p:nvGrpSpPr>
        <p:grpSpPr>
          <a:xfrm>
            <a:off x="8414888" y="169062"/>
            <a:ext cx="537556" cy="136576"/>
            <a:chOff x="2641350" y="846250"/>
            <a:chExt cx="413600" cy="105075"/>
          </a:xfrm>
        </p:grpSpPr>
        <p:sp>
          <p:nvSpPr>
            <p:cNvPr id="179" name="Google Shape;179;p1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3" name="Google Shape;183;p19"/>
          <p:cNvSpPr txBox="1"/>
          <p:nvPr>
            <p:ph idx="1" type="body"/>
          </p:nvPr>
        </p:nvSpPr>
        <p:spPr>
          <a:xfrm>
            <a:off x="311700" y="1017725"/>
            <a:ext cx="3974700" cy="3329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 sz="1500"/>
              <a:t>Question:</a:t>
            </a:r>
            <a:endParaRPr b="1" sz="1500"/>
          </a:p>
          <a:p>
            <a:pPr indent="0" lvl="0" marL="0" rtl="0" algn="l">
              <a:spcBef>
                <a:spcPts val="1200"/>
              </a:spcBef>
              <a:spcAft>
                <a:spcPts val="0"/>
              </a:spcAft>
              <a:buClr>
                <a:schemeClr val="dk1"/>
              </a:buClr>
              <a:buSzPts val="1100"/>
              <a:buFont typeface="Arial"/>
              <a:buNone/>
            </a:pPr>
            <a:r>
              <a:rPr lang="en" sz="1300"/>
              <a:t>How does randomly choosing pixel-space or low-frequency PGD each epoch affect when robust accuracy peaks and how far it declines, compared with training on either attack alone?</a:t>
            </a:r>
            <a:endParaRPr sz="1300"/>
          </a:p>
          <a:p>
            <a:pPr indent="0" lvl="0" marL="0" rtl="0" algn="l">
              <a:spcBef>
                <a:spcPts val="1200"/>
              </a:spcBef>
              <a:spcAft>
                <a:spcPts val="0"/>
              </a:spcAft>
              <a:buClr>
                <a:schemeClr val="dk1"/>
              </a:buClr>
              <a:buSzPts val="1100"/>
              <a:buFont typeface="Arial"/>
              <a:buNone/>
            </a:pPr>
            <a:r>
              <a:t/>
            </a:r>
            <a:endParaRPr sz="1300"/>
          </a:p>
          <a:p>
            <a:pPr indent="0" lvl="0" marL="0" rtl="0" algn="l">
              <a:spcBef>
                <a:spcPts val="1200"/>
              </a:spcBef>
              <a:spcAft>
                <a:spcPts val="0"/>
              </a:spcAft>
              <a:buClr>
                <a:schemeClr val="dk1"/>
              </a:buClr>
              <a:buSzPts val="1100"/>
              <a:buFont typeface="Arial"/>
              <a:buNone/>
            </a:pPr>
            <a:r>
              <a:rPr b="1" lang="en" sz="1500"/>
              <a:t>Hypothesis:</a:t>
            </a:r>
            <a:endParaRPr b="1" sz="1500"/>
          </a:p>
          <a:p>
            <a:pPr indent="0" lvl="0" marL="0" rtl="0" algn="l">
              <a:spcBef>
                <a:spcPts val="1200"/>
              </a:spcBef>
              <a:spcAft>
                <a:spcPts val="1200"/>
              </a:spcAft>
              <a:buClr>
                <a:schemeClr val="dk1"/>
              </a:buClr>
              <a:buSzPts val="1100"/>
              <a:buFont typeface="Arial"/>
              <a:buNone/>
            </a:pPr>
            <a:r>
              <a:rPr lang="en" sz="1300"/>
              <a:t>With other settings held fixed, mixed-domain training will change the peak timing, peak shape, or post-peak decline of robust accuracy under one or both evaluation attacks.</a:t>
            </a:r>
            <a:endParaRPr sz="1300"/>
          </a:p>
        </p:txBody>
      </p:sp>
      <p:pic>
        <p:nvPicPr>
          <p:cNvPr id="184" name="Google Shape;184;p19"/>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
        <p:nvSpPr>
          <p:cNvPr id="185" name="Google Shape;185;p19"/>
          <p:cNvSpPr txBox="1"/>
          <p:nvPr/>
        </p:nvSpPr>
        <p:spPr>
          <a:xfrm>
            <a:off x="4763425" y="2123500"/>
            <a:ext cx="3880200" cy="1264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500">
                <a:solidFill>
                  <a:schemeClr val="dk2"/>
                </a:solidFill>
              </a:rPr>
              <a:t>Why This Matters:</a:t>
            </a:r>
            <a:endParaRPr b="1" sz="1500">
              <a:solidFill>
                <a:schemeClr val="dk2"/>
              </a:solidFill>
            </a:endParaRPr>
          </a:p>
          <a:p>
            <a:pPr indent="0" lvl="0" marL="0" rtl="0" algn="l">
              <a:lnSpc>
                <a:spcPct val="115000"/>
              </a:lnSpc>
              <a:spcBef>
                <a:spcPts val="1200"/>
              </a:spcBef>
              <a:spcAft>
                <a:spcPts val="1200"/>
              </a:spcAft>
              <a:buNone/>
            </a:pPr>
            <a:r>
              <a:rPr lang="en" sz="1300">
                <a:solidFill>
                  <a:schemeClr val="dk2"/>
                </a:solidFill>
              </a:rPr>
              <a:t>Understanding how the training attack affects robust overfitting can guide training methods that preserve robustness over time.</a:t>
            </a:r>
            <a:endParaRPr/>
          </a:p>
        </p:txBody>
      </p:sp>
      <p:cxnSp>
        <p:nvCxnSpPr>
          <p:cNvPr id="186" name="Google Shape;186;p19"/>
          <p:cNvCxnSpPr/>
          <p:nvPr/>
        </p:nvCxnSpPr>
        <p:spPr>
          <a:xfrm>
            <a:off x="387475" y="2682425"/>
            <a:ext cx="705600" cy="0"/>
          </a:xfrm>
          <a:prstGeom prst="straightConnector1">
            <a:avLst/>
          </a:prstGeom>
          <a:noFill/>
          <a:ln cap="flat" cmpd="sng" w="38100">
            <a:solidFill>
              <a:schemeClr val="dk2"/>
            </a:solidFill>
            <a:prstDash val="solid"/>
            <a:round/>
            <a:headEnd len="med" w="med" type="none"/>
            <a:tailEnd len="med" w="med" type="none"/>
          </a:ln>
        </p:spPr>
      </p:cxnSp>
      <p:cxnSp>
        <p:nvCxnSpPr>
          <p:cNvPr id="187" name="Google Shape;187;p19"/>
          <p:cNvCxnSpPr/>
          <p:nvPr/>
        </p:nvCxnSpPr>
        <p:spPr>
          <a:xfrm>
            <a:off x="4535200" y="1298875"/>
            <a:ext cx="0" cy="2944200"/>
          </a:xfrm>
          <a:prstGeom prst="straightConnector1">
            <a:avLst/>
          </a:prstGeom>
          <a:noFill/>
          <a:ln cap="flat" cmpd="sng" w="38100">
            <a:solidFill>
              <a:schemeClr val="dk2"/>
            </a:solidFill>
            <a:prstDash val="solid"/>
            <a:round/>
            <a:headEnd len="med" w="med" type="none"/>
            <a:tailEnd len="med" w="med" type="none"/>
          </a:ln>
        </p:spPr>
      </p:cxn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2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Experimental Setup and Evaluation</a:t>
            </a:r>
            <a:endParaRPr sz="2220"/>
          </a:p>
        </p:txBody>
      </p:sp>
      <p:grpSp>
        <p:nvGrpSpPr>
          <p:cNvPr id="193" name="Google Shape;193;p20"/>
          <p:cNvGrpSpPr/>
          <p:nvPr/>
        </p:nvGrpSpPr>
        <p:grpSpPr>
          <a:xfrm rot="10800000">
            <a:off x="205788" y="4842962"/>
            <a:ext cx="537556" cy="136576"/>
            <a:chOff x="2641350" y="846250"/>
            <a:chExt cx="413600" cy="105075"/>
          </a:xfrm>
        </p:grpSpPr>
        <p:sp>
          <p:nvSpPr>
            <p:cNvPr id="194" name="Google Shape;194;p20"/>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20"/>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20"/>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20"/>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8" name="Google Shape;198;p20"/>
          <p:cNvGrpSpPr/>
          <p:nvPr/>
        </p:nvGrpSpPr>
        <p:grpSpPr>
          <a:xfrm>
            <a:off x="8414888" y="169062"/>
            <a:ext cx="537556" cy="136576"/>
            <a:chOff x="2641350" y="846250"/>
            <a:chExt cx="413600" cy="105075"/>
          </a:xfrm>
        </p:grpSpPr>
        <p:sp>
          <p:nvSpPr>
            <p:cNvPr id="199" name="Google Shape;199;p20"/>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20"/>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20"/>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03" name="Google Shape;203;p20"/>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graphicFrame>
        <p:nvGraphicFramePr>
          <p:cNvPr id="204" name="Google Shape;204;p20"/>
          <p:cNvGraphicFramePr/>
          <p:nvPr/>
        </p:nvGraphicFramePr>
        <p:xfrm>
          <a:off x="411075" y="1107925"/>
          <a:ext cx="3000000" cy="3000000"/>
        </p:xfrm>
        <a:graphic>
          <a:graphicData uri="http://schemas.openxmlformats.org/drawingml/2006/table">
            <a:tbl>
              <a:tblPr>
                <a:noFill/>
                <a:tableStyleId>{D3EC85C8-AC7A-468B-9DC8-D27FF14A4FE0}</a:tableStyleId>
              </a:tblPr>
              <a:tblGrid>
                <a:gridCol w="4115850"/>
                <a:gridCol w="4115850"/>
              </a:tblGrid>
              <a:tr h="392225">
                <a:tc>
                  <a:txBody>
                    <a:bodyPr/>
                    <a:lstStyle/>
                    <a:p>
                      <a:pPr indent="0" lvl="0" marL="0" rtl="0" algn="l">
                        <a:spcBef>
                          <a:spcPts val="0"/>
                        </a:spcBef>
                        <a:spcAft>
                          <a:spcPts val="1000"/>
                        </a:spcAft>
                        <a:buNone/>
                      </a:pPr>
                      <a:r>
                        <a:rPr b="1" lang="en"/>
                        <a:t>Shared Setup</a:t>
                      </a:r>
                      <a:endParaRPr b="1"/>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1000"/>
                        </a:spcAft>
                        <a:buNone/>
                      </a:pPr>
                      <a:r>
                        <a:rPr b="1" lang="en"/>
                        <a:t>Checkpoint Evaluation</a:t>
                      </a:r>
                      <a:endParaRPr b="1"/>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2534600">
                <a:tc>
                  <a:txBody>
                    <a:bodyPr/>
                    <a:lstStyle/>
                    <a:p>
                      <a:pPr indent="-317500" lvl="0" marL="457200" rtl="0" algn="l">
                        <a:spcBef>
                          <a:spcPts val="0"/>
                        </a:spcBef>
                        <a:spcAft>
                          <a:spcPts val="0"/>
                        </a:spcAft>
                        <a:buSzPts val="1400"/>
                        <a:buChar char="-"/>
                      </a:pPr>
                      <a:r>
                        <a:rPr lang="en"/>
                        <a:t>PreActResNet-18 on CIFAR-10</a:t>
                      </a:r>
                      <a:endParaRPr/>
                    </a:p>
                    <a:p>
                      <a:pPr indent="-317500" lvl="0" marL="457200" rtl="0" algn="l">
                        <a:spcBef>
                          <a:spcPts val="1000"/>
                        </a:spcBef>
                        <a:spcAft>
                          <a:spcPts val="0"/>
                        </a:spcAft>
                        <a:buSzPts val="1400"/>
                        <a:buChar char="-"/>
                      </a:pPr>
                      <a:r>
                        <a:rPr lang="en"/>
                        <a:t>50,000 training images and 10,000 test images</a:t>
                      </a:r>
                      <a:endParaRPr/>
                    </a:p>
                    <a:p>
                      <a:pPr indent="-317500" lvl="0" marL="457200" rtl="0" algn="l">
                        <a:spcBef>
                          <a:spcPts val="1000"/>
                        </a:spcBef>
                        <a:spcAft>
                          <a:spcPts val="0"/>
                        </a:spcAft>
                        <a:buSzPts val="1400"/>
                        <a:buChar char="-"/>
                      </a:pPr>
                      <a:r>
                        <a:rPr lang="en"/>
                        <a:t>Five seeds per condition, 15 full runs</a:t>
                      </a:r>
                      <a:endParaRPr/>
                    </a:p>
                    <a:p>
                      <a:pPr indent="-317500" lvl="0" marL="457200" rtl="0" algn="l">
                        <a:spcBef>
                          <a:spcPts val="1000"/>
                        </a:spcBef>
                        <a:spcAft>
                          <a:spcPts val="0"/>
                        </a:spcAft>
                        <a:buSzPts val="1400"/>
                        <a:buChar char="-"/>
                      </a:pPr>
                      <a:r>
                        <a:rPr lang="en"/>
                        <a:t>200 epochs with PGD-10 training</a:t>
                      </a:r>
                      <a:endParaRPr/>
                    </a:p>
                    <a:p>
                      <a:pPr indent="-317500" lvl="0" marL="457200" rtl="0" algn="l">
                        <a:spcBef>
                          <a:spcPts val="1000"/>
                        </a:spcBef>
                        <a:spcAft>
                          <a:spcPts val="0"/>
                        </a:spcAft>
                        <a:buSzPts val="1400"/>
                        <a:buChar char="-"/>
                      </a:pPr>
                      <a:r>
                        <a:rPr lang="en"/>
                        <a:t>Learning-rate reductions after epochs 100 and 150</a:t>
                      </a:r>
                      <a:endParaRPr/>
                    </a:p>
                    <a:p>
                      <a:pPr indent="-317500" lvl="0" marL="457200" rtl="0" algn="l">
                        <a:spcBef>
                          <a:spcPts val="1000"/>
                        </a:spcBef>
                        <a:spcAft>
                          <a:spcPts val="1000"/>
                        </a:spcAft>
                        <a:buSzPts val="1400"/>
                        <a:buChar char="-"/>
                      </a:pPr>
                      <a:r>
                        <a:rPr lang="en"/>
                        <a:t>Checkpoints every five epochs</a:t>
                      </a:r>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317500" lvl="0" marL="457200" rtl="0" algn="l">
                        <a:spcBef>
                          <a:spcPts val="0"/>
                        </a:spcBef>
                        <a:spcAft>
                          <a:spcPts val="0"/>
                        </a:spcAft>
                        <a:buSzPts val="1400"/>
                        <a:buChar char="-"/>
                      </a:pPr>
                      <a:r>
                        <a:rPr lang="en"/>
                        <a:t>PGD-20 with one random start per attack</a:t>
                      </a:r>
                      <a:endParaRPr/>
                    </a:p>
                    <a:p>
                      <a:pPr indent="-317500" lvl="0" marL="457200" rtl="0" algn="l">
                        <a:spcBef>
                          <a:spcPts val="1000"/>
                        </a:spcBef>
                        <a:spcAft>
                          <a:spcPts val="0"/>
                        </a:spcAft>
                        <a:buSzPts val="1400"/>
                        <a:buChar char="-"/>
                      </a:pPr>
                      <a:r>
                        <a:rPr lang="en"/>
                        <a:t>Clean accuracy</a:t>
                      </a:r>
                      <a:endParaRPr/>
                    </a:p>
                    <a:p>
                      <a:pPr indent="-317500" lvl="0" marL="457200" rtl="0" algn="l">
                        <a:spcBef>
                          <a:spcPts val="1000"/>
                        </a:spcBef>
                        <a:spcAft>
                          <a:spcPts val="0"/>
                        </a:spcAft>
                        <a:buSzPts val="1400"/>
                        <a:buChar char="-"/>
                      </a:pPr>
                      <a:r>
                        <a:rPr lang="en"/>
                        <a:t>Pixel-PGD-20 accuracy</a:t>
                      </a:r>
                      <a:endParaRPr/>
                    </a:p>
                    <a:p>
                      <a:pPr indent="-317500" lvl="0" marL="457200" rtl="0" algn="l">
                        <a:spcBef>
                          <a:spcPts val="1000"/>
                        </a:spcBef>
                        <a:spcAft>
                          <a:spcPts val="0"/>
                        </a:spcAft>
                        <a:buSzPts val="1400"/>
                        <a:buChar char="-"/>
                      </a:pPr>
                      <a:r>
                        <a:rPr lang="en"/>
                        <a:t>Low-frequency-PGD-20 accuracy</a:t>
                      </a:r>
                      <a:endParaRPr/>
                    </a:p>
                    <a:p>
                      <a:pPr indent="-317500" lvl="0" marL="457200" rtl="0" algn="l">
                        <a:spcBef>
                          <a:spcPts val="1000"/>
                        </a:spcBef>
                        <a:spcAft>
                          <a:spcPts val="1000"/>
                        </a:spcAft>
                        <a:buSzPts val="1400"/>
                        <a:buChar char="-"/>
                      </a:pPr>
                      <a:r>
                        <a:rPr lang="en"/>
                        <a:t>Joint accuracy: both attacked versions of an image must be classified correctly</a:t>
                      </a:r>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bl>
          </a:graphicData>
        </a:graphic>
      </p:graphicFrame>
      <p:sp>
        <p:nvSpPr>
          <p:cNvPr id="205" name="Google Shape;205;p20"/>
          <p:cNvSpPr txBox="1"/>
          <p:nvPr>
            <p:ph idx="1" type="body"/>
          </p:nvPr>
        </p:nvSpPr>
        <p:spPr>
          <a:xfrm>
            <a:off x="360950" y="4121488"/>
            <a:ext cx="6567300" cy="63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t>Primary comparison:</a:t>
            </a:r>
            <a:r>
              <a:rPr lang="en" sz="1300"/>
              <a:t> Peak epoch and decline from peak accuracy to epoch 200.</a:t>
            </a:r>
            <a:endParaRPr sz="1300"/>
          </a:p>
          <a:p>
            <a:pPr indent="0" lvl="0" marL="0" rtl="0" algn="l">
              <a:spcBef>
                <a:spcPts val="0"/>
              </a:spcBef>
              <a:spcAft>
                <a:spcPts val="0"/>
              </a:spcAft>
              <a:buNone/>
            </a:pPr>
            <a:r>
              <a:rPr lang="en" sz="1300"/>
              <a:t>Reported peaks describe test-set trajectories, not validation-selected checkpoints.</a:t>
            </a:r>
            <a:endParaRPr sz="1300"/>
          </a:p>
        </p:txBody>
      </p:sp>
      <p:sp>
        <p:nvSpPr>
          <p:cNvPr id="206" name="Google Shape;206;p20"/>
          <p:cNvSpPr txBox="1"/>
          <p:nvPr>
            <p:ph idx="1" type="body"/>
          </p:nvPr>
        </p:nvSpPr>
        <p:spPr>
          <a:xfrm>
            <a:off x="743350" y="4717600"/>
            <a:ext cx="7841100" cy="3336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Architecture: He et al. (2016). Dataset: Krizhevsky (2009). Baseline implementation: Rice et al. (2020).</a:t>
            </a:r>
            <a:endParaRPr i="1" sz="13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grpSp>
        <p:nvGrpSpPr>
          <p:cNvPr id="211" name="Google Shape;211;p21"/>
          <p:cNvGrpSpPr/>
          <p:nvPr/>
        </p:nvGrpSpPr>
        <p:grpSpPr>
          <a:xfrm rot="10800000">
            <a:off x="205788" y="4842962"/>
            <a:ext cx="537556" cy="136576"/>
            <a:chOff x="2641350" y="846250"/>
            <a:chExt cx="413600" cy="105075"/>
          </a:xfrm>
        </p:grpSpPr>
        <p:sp>
          <p:nvSpPr>
            <p:cNvPr id="212" name="Google Shape;212;p21"/>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21"/>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21"/>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21"/>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6" name="Google Shape;216;p21"/>
          <p:cNvGrpSpPr/>
          <p:nvPr/>
        </p:nvGrpSpPr>
        <p:grpSpPr>
          <a:xfrm>
            <a:off x="8414888" y="169062"/>
            <a:ext cx="537556" cy="136576"/>
            <a:chOff x="2641350" y="846250"/>
            <a:chExt cx="413600" cy="105075"/>
          </a:xfrm>
        </p:grpSpPr>
        <p:sp>
          <p:nvSpPr>
            <p:cNvPr id="217" name="Google Shape;217;p21"/>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21"/>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21"/>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21"/>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21" name="Google Shape;221;p21" title="Screenshot 2026-09-14 at 11.29.33 PM.png"/>
          <p:cNvPicPr preferRelativeResize="0"/>
          <p:nvPr/>
        </p:nvPicPr>
        <p:blipFill rotWithShape="1">
          <a:blip r:embed="rId3">
            <a:alphaModFix/>
          </a:blip>
          <a:srcRect b="0" l="0" r="0" t="6130"/>
          <a:stretch/>
        </p:blipFill>
        <p:spPr>
          <a:xfrm>
            <a:off x="435013" y="1015562"/>
            <a:ext cx="8273987" cy="3117474"/>
          </a:xfrm>
          <a:prstGeom prst="rect">
            <a:avLst/>
          </a:prstGeom>
          <a:noFill/>
          <a:ln>
            <a:noFill/>
          </a:ln>
        </p:spPr>
      </p:pic>
      <p:sp>
        <p:nvSpPr>
          <p:cNvPr id="222" name="Google Shape;222;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Pixel-Only Training: Evaluation Results</a:t>
            </a:r>
            <a:endParaRPr sz="2220"/>
          </a:p>
        </p:txBody>
      </p:sp>
      <p:pic>
        <p:nvPicPr>
          <p:cNvPr id="223" name="Google Shape;223;p21"/>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224" name="Google Shape;224;p21"/>
          <p:cNvSpPr txBox="1"/>
          <p:nvPr/>
        </p:nvSpPr>
        <p:spPr>
          <a:xfrm>
            <a:off x="311700" y="4295538"/>
            <a:ext cx="7113600" cy="38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n" sz="1300">
                <a:solidFill>
                  <a:schemeClr val="dk2"/>
                </a:solidFill>
              </a:rPr>
              <a:t>Result: </a:t>
            </a:r>
            <a:r>
              <a:rPr lang="en" sz="1300">
                <a:solidFill>
                  <a:schemeClr val="dk2"/>
                </a:solidFill>
              </a:rPr>
              <a:t>Pixel-only training reproduces robust overfitting across all five seeds.</a:t>
            </a:r>
            <a:endParaRPr/>
          </a:p>
        </p:txBody>
      </p:sp>
      <p:cxnSp>
        <p:nvCxnSpPr>
          <p:cNvPr id="225" name="Google Shape;225;p21"/>
          <p:cNvCxnSpPr/>
          <p:nvPr/>
        </p:nvCxnSpPr>
        <p:spPr>
          <a:xfrm>
            <a:off x="395850" y="4270775"/>
            <a:ext cx="714300" cy="0"/>
          </a:xfrm>
          <a:prstGeom prst="straightConnector1">
            <a:avLst/>
          </a:prstGeom>
          <a:noFill/>
          <a:ln cap="flat" cmpd="sng" w="38100">
            <a:solidFill>
              <a:schemeClr val="dk2"/>
            </a:solidFill>
            <a:prstDash val="solid"/>
            <a:round/>
            <a:headEnd len="med" w="med" type="none"/>
            <a:tailEnd len="med" w="med" type="none"/>
          </a:ln>
        </p:spPr>
      </p:cxn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grpSp>
        <p:nvGrpSpPr>
          <p:cNvPr id="230" name="Google Shape;230;p22"/>
          <p:cNvGrpSpPr/>
          <p:nvPr/>
        </p:nvGrpSpPr>
        <p:grpSpPr>
          <a:xfrm rot="10800000">
            <a:off x="205788" y="4842962"/>
            <a:ext cx="537556" cy="136576"/>
            <a:chOff x="2641350" y="846250"/>
            <a:chExt cx="413600" cy="105075"/>
          </a:xfrm>
        </p:grpSpPr>
        <p:sp>
          <p:nvSpPr>
            <p:cNvPr id="231" name="Google Shape;231;p22"/>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22"/>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22"/>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22"/>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5" name="Google Shape;235;p22"/>
          <p:cNvGrpSpPr/>
          <p:nvPr/>
        </p:nvGrpSpPr>
        <p:grpSpPr>
          <a:xfrm>
            <a:off x="8414888" y="169062"/>
            <a:ext cx="537556" cy="136576"/>
            <a:chOff x="2641350" y="846250"/>
            <a:chExt cx="413600" cy="105075"/>
          </a:xfrm>
        </p:grpSpPr>
        <p:sp>
          <p:nvSpPr>
            <p:cNvPr id="236" name="Google Shape;236;p22"/>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2"/>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22"/>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22"/>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40" name="Google Shape;240;p22" title="Screenshot 2026-09-14 at 11.29.54 PM.png"/>
          <p:cNvPicPr preferRelativeResize="0"/>
          <p:nvPr/>
        </p:nvPicPr>
        <p:blipFill rotWithShape="1">
          <a:blip r:embed="rId3">
            <a:alphaModFix/>
          </a:blip>
          <a:srcRect b="0" l="0" r="0" t="6235"/>
          <a:stretch/>
        </p:blipFill>
        <p:spPr>
          <a:xfrm>
            <a:off x="440750" y="944275"/>
            <a:ext cx="8262502" cy="3117202"/>
          </a:xfrm>
          <a:prstGeom prst="rect">
            <a:avLst/>
          </a:prstGeom>
          <a:noFill/>
          <a:ln>
            <a:noFill/>
          </a:ln>
        </p:spPr>
      </p:pic>
      <p:sp>
        <p:nvSpPr>
          <p:cNvPr id="241" name="Google Shape;241;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Low-Frequency-Only Training: Evaluation Results</a:t>
            </a:r>
            <a:endParaRPr sz="2220"/>
          </a:p>
        </p:txBody>
      </p:sp>
      <p:pic>
        <p:nvPicPr>
          <p:cNvPr id="242" name="Google Shape;242;p22"/>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cxnSp>
        <p:nvCxnSpPr>
          <p:cNvPr id="243" name="Google Shape;243;p22"/>
          <p:cNvCxnSpPr/>
          <p:nvPr/>
        </p:nvCxnSpPr>
        <p:spPr>
          <a:xfrm>
            <a:off x="395850" y="4270775"/>
            <a:ext cx="714300" cy="0"/>
          </a:xfrm>
          <a:prstGeom prst="straightConnector1">
            <a:avLst/>
          </a:prstGeom>
          <a:noFill/>
          <a:ln cap="flat" cmpd="sng" w="38100">
            <a:solidFill>
              <a:schemeClr val="dk2"/>
            </a:solidFill>
            <a:prstDash val="solid"/>
            <a:round/>
            <a:headEnd len="med" w="med" type="none"/>
            <a:tailEnd len="med" w="med" type="none"/>
          </a:ln>
        </p:spPr>
      </p:cxnSp>
      <p:sp>
        <p:nvSpPr>
          <p:cNvPr id="244" name="Google Shape;244;p22"/>
          <p:cNvSpPr txBox="1"/>
          <p:nvPr/>
        </p:nvSpPr>
        <p:spPr>
          <a:xfrm>
            <a:off x="311700" y="4295538"/>
            <a:ext cx="7113600" cy="38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n" sz="1300">
                <a:solidFill>
                  <a:schemeClr val="dk2"/>
                </a:solidFill>
              </a:rPr>
              <a:t>Result: </a:t>
            </a:r>
            <a:r>
              <a:rPr lang="en" sz="1300">
                <a:solidFill>
                  <a:schemeClr val="dk2"/>
                </a:solidFill>
              </a:rPr>
              <a:t>Low-frequency training does not transfer to pixel PGD.</a:t>
            </a:r>
            <a:endParaRPr b="1" sz="1300">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grpSp>
        <p:nvGrpSpPr>
          <p:cNvPr id="249" name="Google Shape;249;p23"/>
          <p:cNvGrpSpPr/>
          <p:nvPr/>
        </p:nvGrpSpPr>
        <p:grpSpPr>
          <a:xfrm rot="10800000">
            <a:off x="205788" y="4842962"/>
            <a:ext cx="537556" cy="136576"/>
            <a:chOff x="2641350" y="846250"/>
            <a:chExt cx="413600" cy="105075"/>
          </a:xfrm>
        </p:grpSpPr>
        <p:sp>
          <p:nvSpPr>
            <p:cNvPr id="250" name="Google Shape;250;p2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2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2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4" name="Google Shape;254;p23"/>
          <p:cNvGrpSpPr/>
          <p:nvPr/>
        </p:nvGrpSpPr>
        <p:grpSpPr>
          <a:xfrm>
            <a:off x="8414888" y="169062"/>
            <a:ext cx="537556" cy="136576"/>
            <a:chOff x="2641350" y="846250"/>
            <a:chExt cx="413600" cy="105075"/>
          </a:xfrm>
        </p:grpSpPr>
        <p:sp>
          <p:nvSpPr>
            <p:cNvPr id="255" name="Google Shape;255;p2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2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2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2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59" name="Google Shape;259;p23" title="Screenshot 2026-09-14 at 11.30.13 PM.png"/>
          <p:cNvPicPr preferRelativeResize="0"/>
          <p:nvPr/>
        </p:nvPicPr>
        <p:blipFill rotWithShape="1">
          <a:blip r:embed="rId3">
            <a:alphaModFix/>
          </a:blip>
          <a:srcRect b="0" l="130" r="229" t="10023"/>
          <a:stretch/>
        </p:blipFill>
        <p:spPr>
          <a:xfrm>
            <a:off x="448775" y="968213"/>
            <a:ext cx="8246451" cy="3003012"/>
          </a:xfrm>
          <a:prstGeom prst="rect">
            <a:avLst/>
          </a:prstGeom>
          <a:noFill/>
          <a:ln>
            <a:noFill/>
          </a:ln>
        </p:spPr>
      </p:pic>
      <p:sp>
        <p:nvSpPr>
          <p:cNvPr id="260" name="Google Shape;260;p2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Mixed-Domain Training: Evaluation Results</a:t>
            </a:r>
            <a:endParaRPr sz="2220"/>
          </a:p>
        </p:txBody>
      </p:sp>
      <p:pic>
        <p:nvPicPr>
          <p:cNvPr id="261" name="Google Shape;261;p23"/>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cxnSp>
        <p:nvCxnSpPr>
          <p:cNvPr id="262" name="Google Shape;262;p23"/>
          <p:cNvCxnSpPr/>
          <p:nvPr/>
        </p:nvCxnSpPr>
        <p:spPr>
          <a:xfrm>
            <a:off x="395850" y="4087188"/>
            <a:ext cx="714300" cy="0"/>
          </a:xfrm>
          <a:prstGeom prst="straightConnector1">
            <a:avLst/>
          </a:prstGeom>
          <a:noFill/>
          <a:ln cap="flat" cmpd="sng" w="38100">
            <a:solidFill>
              <a:schemeClr val="dk2"/>
            </a:solidFill>
            <a:prstDash val="solid"/>
            <a:round/>
            <a:headEnd len="med" w="med" type="none"/>
            <a:tailEnd len="med" w="med" type="none"/>
          </a:ln>
        </p:spPr>
      </p:cxnSp>
      <p:sp>
        <p:nvSpPr>
          <p:cNvPr id="263" name="Google Shape;263;p23"/>
          <p:cNvSpPr txBox="1"/>
          <p:nvPr/>
        </p:nvSpPr>
        <p:spPr>
          <a:xfrm>
            <a:off x="311700" y="4111963"/>
            <a:ext cx="7653600" cy="615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n" sz="1300">
                <a:solidFill>
                  <a:schemeClr val="dk2"/>
                </a:solidFill>
              </a:rPr>
              <a:t>Result: </a:t>
            </a:r>
            <a:r>
              <a:rPr lang="en" sz="1300">
                <a:solidFill>
                  <a:schemeClr val="dk2"/>
                </a:solidFill>
              </a:rPr>
              <a:t>Pixel and joint accuracy fluctuate across checkpoints. The peak-to-final decline also reflects changes in the training attack.</a:t>
            </a:r>
            <a:endParaRPr b="1" sz="1300">
              <a:solidFill>
                <a:schemeClr val="dk2"/>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grpSp>
        <p:nvGrpSpPr>
          <p:cNvPr id="268" name="Google Shape;268;p24"/>
          <p:cNvGrpSpPr/>
          <p:nvPr/>
        </p:nvGrpSpPr>
        <p:grpSpPr>
          <a:xfrm rot="10800000">
            <a:off x="205788" y="4842962"/>
            <a:ext cx="537556" cy="136576"/>
            <a:chOff x="2641350" y="846250"/>
            <a:chExt cx="413600" cy="105075"/>
          </a:xfrm>
        </p:grpSpPr>
        <p:sp>
          <p:nvSpPr>
            <p:cNvPr id="269" name="Google Shape;269;p2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2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2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3" name="Google Shape;273;p24"/>
          <p:cNvGrpSpPr/>
          <p:nvPr/>
        </p:nvGrpSpPr>
        <p:grpSpPr>
          <a:xfrm>
            <a:off x="8414888" y="169062"/>
            <a:ext cx="537556" cy="136576"/>
            <a:chOff x="2641350" y="846250"/>
            <a:chExt cx="413600" cy="105075"/>
          </a:xfrm>
        </p:grpSpPr>
        <p:sp>
          <p:nvSpPr>
            <p:cNvPr id="274" name="Google Shape;274;p2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2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2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2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78" name="Google Shape;278;p2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Mixed-Domain Training: Evaluation by Last Training Attack</a:t>
            </a:r>
            <a:endParaRPr sz="2220"/>
          </a:p>
        </p:txBody>
      </p:sp>
      <p:pic>
        <p:nvPicPr>
          <p:cNvPr id="279" name="Google Shape;279;p24"/>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cxnSp>
        <p:nvCxnSpPr>
          <p:cNvPr id="280" name="Google Shape;280;p24"/>
          <p:cNvCxnSpPr/>
          <p:nvPr/>
        </p:nvCxnSpPr>
        <p:spPr>
          <a:xfrm>
            <a:off x="395850" y="4087188"/>
            <a:ext cx="714300" cy="0"/>
          </a:xfrm>
          <a:prstGeom prst="straightConnector1">
            <a:avLst/>
          </a:prstGeom>
          <a:noFill/>
          <a:ln cap="flat" cmpd="sng" w="38100">
            <a:solidFill>
              <a:schemeClr val="dk2"/>
            </a:solidFill>
            <a:prstDash val="solid"/>
            <a:round/>
            <a:headEnd len="med" w="med" type="none"/>
            <a:tailEnd len="med" w="med" type="none"/>
          </a:ln>
        </p:spPr>
      </p:cxnSp>
      <p:sp>
        <p:nvSpPr>
          <p:cNvPr id="281" name="Google Shape;281;p24"/>
          <p:cNvSpPr txBox="1"/>
          <p:nvPr/>
        </p:nvSpPr>
        <p:spPr>
          <a:xfrm>
            <a:off x="311700" y="4111963"/>
            <a:ext cx="7653600" cy="615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n" sz="1300">
                <a:solidFill>
                  <a:schemeClr val="dk2"/>
                </a:solidFill>
              </a:rPr>
              <a:t>Result:</a:t>
            </a:r>
            <a:r>
              <a:rPr lang="en" sz="1300">
                <a:solidFill>
                  <a:schemeClr val="dk2"/>
                </a:solidFill>
              </a:rPr>
              <a:t> Pixel accuracy is higher after pixel-training epochs, while low-frequency accuracy is higher after low-frequency-training epochs.</a:t>
            </a:r>
            <a:endParaRPr sz="1300">
              <a:solidFill>
                <a:schemeClr val="dk2"/>
              </a:solidFill>
            </a:endParaRPr>
          </a:p>
        </p:txBody>
      </p:sp>
      <p:pic>
        <p:nvPicPr>
          <p:cNvPr id="282" name="Google Shape;282;p24" title="Screenshot 2026-09-18 at 9.45.57 AM.png"/>
          <p:cNvPicPr preferRelativeResize="0"/>
          <p:nvPr/>
        </p:nvPicPr>
        <p:blipFill>
          <a:blip r:embed="rId4">
            <a:alphaModFix/>
          </a:blip>
          <a:stretch>
            <a:fillRect/>
          </a:stretch>
        </p:blipFill>
        <p:spPr>
          <a:xfrm>
            <a:off x="2680525" y="3636237"/>
            <a:ext cx="3782950" cy="164475"/>
          </a:xfrm>
          <a:prstGeom prst="rect">
            <a:avLst/>
          </a:prstGeom>
          <a:noFill/>
          <a:ln>
            <a:noFill/>
          </a:ln>
        </p:spPr>
      </p:pic>
      <p:pic>
        <p:nvPicPr>
          <p:cNvPr id="283" name="Google Shape;283;p24" title="Screenshot 2026-09-18 at 9.50.25 AM.png"/>
          <p:cNvPicPr preferRelativeResize="0"/>
          <p:nvPr/>
        </p:nvPicPr>
        <p:blipFill>
          <a:blip r:embed="rId5">
            <a:alphaModFix/>
          </a:blip>
          <a:stretch>
            <a:fillRect/>
          </a:stretch>
        </p:blipFill>
        <p:spPr>
          <a:xfrm>
            <a:off x="152400" y="1304225"/>
            <a:ext cx="8839204" cy="2179589"/>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Conclusions and Next Steps</a:t>
            </a:r>
            <a:endParaRPr sz="2220"/>
          </a:p>
        </p:txBody>
      </p:sp>
      <p:sp>
        <p:nvSpPr>
          <p:cNvPr id="289" name="Google Shape;289;p25"/>
          <p:cNvSpPr txBox="1"/>
          <p:nvPr>
            <p:ph idx="1" type="body"/>
          </p:nvPr>
        </p:nvSpPr>
        <p:spPr>
          <a:xfrm>
            <a:off x="311700" y="1070050"/>
            <a:ext cx="4593600" cy="3478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500"/>
              <a:t>Main observations:</a:t>
            </a:r>
            <a:endParaRPr b="1" sz="1500"/>
          </a:p>
          <a:p>
            <a:pPr indent="-311150" lvl="0" marL="457200" rtl="0" algn="l">
              <a:spcBef>
                <a:spcPts val="1000"/>
              </a:spcBef>
              <a:spcAft>
                <a:spcPts val="0"/>
              </a:spcAft>
              <a:buSzPts val="1300"/>
              <a:buAutoNum type="arabicPeriod"/>
            </a:pPr>
            <a:r>
              <a:rPr lang="en" sz="1300"/>
              <a:t>Pixel-only training reproduced robust overfitting.</a:t>
            </a:r>
            <a:endParaRPr sz="1300"/>
          </a:p>
          <a:p>
            <a:pPr indent="-311150" lvl="0" marL="457200" rtl="0" algn="l">
              <a:spcBef>
                <a:spcPts val="0"/>
              </a:spcBef>
              <a:spcAft>
                <a:spcPts val="0"/>
              </a:spcAft>
              <a:buSzPts val="1300"/>
              <a:buAutoNum type="arabicPeriod"/>
            </a:pPr>
            <a:r>
              <a:rPr lang="en" sz="1300"/>
              <a:t>Low-frequency-only training retained high matched-attack accuracy but failed against pixel PGD.</a:t>
            </a:r>
            <a:endParaRPr sz="1300"/>
          </a:p>
          <a:p>
            <a:pPr indent="-311150" lvl="0" marL="457200" rtl="0" algn="l">
              <a:spcBef>
                <a:spcPts val="0"/>
              </a:spcBef>
              <a:spcAft>
                <a:spcPts val="0"/>
              </a:spcAft>
              <a:buSzPts val="1300"/>
              <a:buAutoNum type="arabicPeriod"/>
            </a:pPr>
            <a:r>
              <a:rPr lang="en" sz="1300"/>
              <a:t>Mixed domain </a:t>
            </a:r>
            <a:r>
              <a:rPr lang="en" sz="1300"/>
              <a:t>training </a:t>
            </a:r>
            <a:r>
              <a:rPr lang="en" sz="1300"/>
              <a:t>produced robustness strongly associated with the most recent training attack.</a:t>
            </a:r>
            <a:endParaRPr sz="1300"/>
          </a:p>
          <a:p>
            <a:pPr indent="0" lvl="0" marL="0" rtl="0" algn="l">
              <a:spcBef>
                <a:spcPts val="1000"/>
              </a:spcBef>
              <a:spcAft>
                <a:spcPts val="0"/>
              </a:spcAft>
              <a:buNone/>
            </a:pPr>
            <a:r>
              <a:t/>
            </a:r>
            <a:endParaRPr sz="1300"/>
          </a:p>
          <a:p>
            <a:pPr indent="0" lvl="0" marL="0" rtl="0" algn="l">
              <a:spcBef>
                <a:spcPts val="1000"/>
              </a:spcBef>
              <a:spcAft>
                <a:spcPts val="0"/>
              </a:spcAft>
              <a:buNone/>
            </a:pPr>
            <a:r>
              <a:rPr b="1" lang="en" sz="1500"/>
              <a:t>Scope:</a:t>
            </a:r>
            <a:endParaRPr b="1" sz="1500"/>
          </a:p>
          <a:p>
            <a:pPr indent="0" lvl="0" marL="0" rtl="0" algn="l">
              <a:spcBef>
                <a:spcPts val="1000"/>
              </a:spcBef>
              <a:spcAft>
                <a:spcPts val="1000"/>
              </a:spcAft>
              <a:buNone/>
            </a:pPr>
            <a:r>
              <a:rPr lang="en" sz="1300"/>
              <a:t>One dataset, one architecture, one frequency cutoff, and five seeds per condition.</a:t>
            </a:r>
            <a:r>
              <a:rPr lang="en" sz="1300"/>
              <a:t> </a:t>
            </a:r>
            <a:r>
              <a:rPr lang="en" sz="1300"/>
              <a:t>Finite-step attack results do not certify robustness or establish the underlying mechanism.</a:t>
            </a:r>
            <a:endParaRPr sz="1300"/>
          </a:p>
        </p:txBody>
      </p:sp>
      <p:grpSp>
        <p:nvGrpSpPr>
          <p:cNvPr id="290" name="Google Shape;290;p25"/>
          <p:cNvGrpSpPr/>
          <p:nvPr/>
        </p:nvGrpSpPr>
        <p:grpSpPr>
          <a:xfrm rot="10800000">
            <a:off x="205788" y="4842962"/>
            <a:ext cx="537556" cy="136576"/>
            <a:chOff x="2641350" y="846250"/>
            <a:chExt cx="413600" cy="105075"/>
          </a:xfrm>
        </p:grpSpPr>
        <p:sp>
          <p:nvSpPr>
            <p:cNvPr id="291" name="Google Shape;291;p2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2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5" name="Google Shape;295;p25"/>
          <p:cNvGrpSpPr/>
          <p:nvPr/>
        </p:nvGrpSpPr>
        <p:grpSpPr>
          <a:xfrm>
            <a:off x="8414888" y="169062"/>
            <a:ext cx="537556" cy="136576"/>
            <a:chOff x="2641350" y="846250"/>
            <a:chExt cx="413600" cy="105075"/>
          </a:xfrm>
        </p:grpSpPr>
        <p:sp>
          <p:nvSpPr>
            <p:cNvPr id="296" name="Google Shape;296;p2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2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00" name="Google Shape;300;p25"/>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
        <p:nvSpPr>
          <p:cNvPr id="301" name="Google Shape;301;p25"/>
          <p:cNvSpPr txBox="1"/>
          <p:nvPr/>
        </p:nvSpPr>
        <p:spPr>
          <a:xfrm>
            <a:off x="5191150" y="1837350"/>
            <a:ext cx="3393300" cy="1468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500">
                <a:solidFill>
                  <a:schemeClr val="dk2"/>
                </a:solidFill>
              </a:rPr>
              <a:t>Potential n</a:t>
            </a:r>
            <a:r>
              <a:rPr b="1" lang="en" sz="1500">
                <a:solidFill>
                  <a:schemeClr val="dk2"/>
                </a:solidFill>
              </a:rPr>
              <a:t>ext steps:</a:t>
            </a:r>
            <a:endParaRPr b="1" sz="1500">
              <a:solidFill>
                <a:schemeClr val="dk2"/>
              </a:solidFill>
            </a:endParaRPr>
          </a:p>
          <a:p>
            <a:pPr indent="0" lvl="0" marL="0" rtl="0" algn="l">
              <a:lnSpc>
                <a:spcPct val="115000"/>
              </a:lnSpc>
              <a:spcBef>
                <a:spcPts val="1000"/>
              </a:spcBef>
              <a:spcAft>
                <a:spcPts val="1000"/>
              </a:spcAft>
              <a:buNone/>
            </a:pPr>
            <a:r>
              <a:rPr lang="en" sz="1300">
                <a:solidFill>
                  <a:schemeClr val="dk2"/>
                </a:solidFill>
              </a:rPr>
              <a:t>Compare mixing within batches or individual examples, use validation-based checkpoint selection, and strengthen attack evaluation.</a:t>
            </a:r>
            <a:endParaRPr/>
          </a:p>
        </p:txBody>
      </p:sp>
      <p:cxnSp>
        <p:nvCxnSpPr>
          <p:cNvPr id="302" name="Google Shape;302;p25"/>
          <p:cNvCxnSpPr/>
          <p:nvPr/>
        </p:nvCxnSpPr>
        <p:spPr>
          <a:xfrm>
            <a:off x="375550" y="3128350"/>
            <a:ext cx="705600" cy="0"/>
          </a:xfrm>
          <a:prstGeom prst="straightConnector1">
            <a:avLst/>
          </a:prstGeom>
          <a:noFill/>
          <a:ln cap="flat" cmpd="sng" w="38100">
            <a:solidFill>
              <a:schemeClr val="dk2"/>
            </a:solidFill>
            <a:prstDash val="solid"/>
            <a:round/>
            <a:headEnd len="med" w="med" type="none"/>
            <a:tailEnd len="med" w="med" type="none"/>
          </a:ln>
        </p:spPr>
      </p:cxnSp>
      <p:cxnSp>
        <p:nvCxnSpPr>
          <p:cNvPr id="303" name="Google Shape;303;p25"/>
          <p:cNvCxnSpPr/>
          <p:nvPr/>
        </p:nvCxnSpPr>
        <p:spPr>
          <a:xfrm>
            <a:off x="4905300" y="1337050"/>
            <a:ext cx="0" cy="2944200"/>
          </a:xfrm>
          <a:prstGeom prst="straightConnector1">
            <a:avLst/>
          </a:prstGeom>
          <a:noFill/>
          <a:ln cap="flat" cmpd="sng" w="38100">
            <a:solidFill>
              <a:schemeClr val="dk2"/>
            </a:solidFill>
            <a:prstDash val="solid"/>
            <a:round/>
            <a:headEnd len="med" w="med" type="none"/>
            <a:tailEnd len="med" w="med" type="non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2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Selected </a:t>
            </a:r>
            <a:r>
              <a:rPr lang="en" sz="2220"/>
              <a:t>References</a:t>
            </a:r>
            <a:endParaRPr sz="2220"/>
          </a:p>
        </p:txBody>
      </p:sp>
      <p:sp>
        <p:nvSpPr>
          <p:cNvPr id="309" name="Google Shape;309;p26"/>
          <p:cNvSpPr txBox="1"/>
          <p:nvPr>
            <p:ph idx="1" type="body"/>
          </p:nvPr>
        </p:nvSpPr>
        <p:spPr>
          <a:xfrm>
            <a:off x="311700" y="1017725"/>
            <a:ext cx="8520600" cy="382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300"/>
              <a:t>Goodfellow, I. J., Shlens, J., and Szegedy, C. Explaining and Harnessing Adversarial Examples. ICLR, 2015.</a:t>
            </a:r>
            <a:endParaRPr sz="1300"/>
          </a:p>
          <a:p>
            <a:pPr indent="0" lvl="0" marL="0" rtl="0" algn="l">
              <a:spcBef>
                <a:spcPts val="1000"/>
              </a:spcBef>
              <a:spcAft>
                <a:spcPts val="0"/>
              </a:spcAft>
              <a:buClr>
                <a:schemeClr val="dk1"/>
              </a:buClr>
              <a:buSzPts val="1100"/>
              <a:buFont typeface="Arial"/>
              <a:buNone/>
            </a:pPr>
            <a:r>
              <a:rPr lang="en" sz="1300"/>
              <a:t>Madry, A., Makelov, A., Schmidt, L., Tsipras, D., and Vladu, A. Towards Deep Learning Models Resistant to Adversarial Attacks. ICLR, 2018.</a:t>
            </a:r>
            <a:endParaRPr sz="1300"/>
          </a:p>
          <a:p>
            <a:pPr indent="0" lvl="0" marL="0" rtl="0" algn="l">
              <a:spcBef>
                <a:spcPts val="1000"/>
              </a:spcBef>
              <a:spcAft>
                <a:spcPts val="0"/>
              </a:spcAft>
              <a:buClr>
                <a:schemeClr val="dk1"/>
              </a:buClr>
              <a:buSzPts val="1100"/>
              <a:buFont typeface="Arial"/>
              <a:buNone/>
            </a:pPr>
            <a:r>
              <a:rPr lang="en" sz="1300"/>
              <a:t>Rice, L., Wong, E., and Kolter, J. Z. Overfitting in Adversarially Robust Deep Learning. ICML, 2020.</a:t>
            </a:r>
            <a:endParaRPr sz="1300"/>
          </a:p>
          <a:p>
            <a:pPr indent="0" lvl="0" marL="0" rtl="0" algn="l">
              <a:spcBef>
                <a:spcPts val="1000"/>
              </a:spcBef>
              <a:spcAft>
                <a:spcPts val="0"/>
              </a:spcAft>
              <a:buClr>
                <a:schemeClr val="dk1"/>
              </a:buClr>
              <a:buSzPts val="1100"/>
              <a:buFont typeface="Arial"/>
              <a:buNone/>
            </a:pPr>
            <a:r>
              <a:rPr lang="en" sz="1300"/>
              <a:t>Guo, C., Frank, J. S., and Weinberger, K. Q. Low Frequency Adversarial Perturbation. UAI 2019, PMLR 115, 2020.</a:t>
            </a:r>
            <a:endParaRPr sz="1300"/>
          </a:p>
          <a:p>
            <a:pPr indent="0" lvl="0" marL="0" rtl="0" algn="l">
              <a:spcBef>
                <a:spcPts val="1000"/>
              </a:spcBef>
              <a:spcAft>
                <a:spcPts val="0"/>
              </a:spcAft>
              <a:buClr>
                <a:schemeClr val="dk1"/>
              </a:buClr>
              <a:buSzPts val="1100"/>
              <a:buFont typeface="Arial"/>
              <a:buNone/>
            </a:pPr>
            <a:r>
              <a:rPr lang="en" sz="1300"/>
              <a:t>He, K., Zhang, X., Ren, S., and Sun, J. Identity Mappings in Deep Residual Networks. ECCV, 2016.</a:t>
            </a:r>
            <a:endParaRPr sz="1300"/>
          </a:p>
          <a:p>
            <a:pPr indent="0" lvl="0" marL="0" rtl="0" algn="l">
              <a:spcBef>
                <a:spcPts val="1000"/>
              </a:spcBef>
              <a:spcAft>
                <a:spcPts val="0"/>
              </a:spcAft>
              <a:buClr>
                <a:schemeClr val="dk1"/>
              </a:buClr>
              <a:buSzPts val="1100"/>
              <a:buFont typeface="Arial"/>
              <a:buNone/>
            </a:pPr>
            <a:r>
              <a:rPr lang="en" sz="1300"/>
              <a:t>Krizhevsky, A. Learning Multiple Layers of Features from Tiny Images. Technical report, 2009.</a:t>
            </a:r>
            <a:endParaRPr sz="1300"/>
          </a:p>
          <a:p>
            <a:pPr indent="0" lvl="0" marL="0" rtl="0" algn="l">
              <a:spcBef>
                <a:spcPts val="1000"/>
              </a:spcBef>
              <a:spcAft>
                <a:spcPts val="0"/>
              </a:spcAft>
              <a:buClr>
                <a:schemeClr val="dk1"/>
              </a:buClr>
              <a:buSzPts val="1100"/>
              <a:buFont typeface="Arial"/>
              <a:buNone/>
            </a:pPr>
            <a:r>
              <a:t/>
            </a:r>
            <a:endParaRPr sz="1300"/>
          </a:p>
          <a:p>
            <a:pPr indent="0" lvl="0" marL="0" rtl="0" algn="l">
              <a:spcBef>
                <a:spcPts val="1000"/>
              </a:spcBef>
              <a:spcAft>
                <a:spcPts val="0"/>
              </a:spcAft>
              <a:buClr>
                <a:schemeClr val="dk1"/>
              </a:buClr>
              <a:buSzPts val="1100"/>
              <a:buFont typeface="Arial"/>
              <a:buNone/>
            </a:pPr>
            <a:r>
              <a:rPr lang="en" sz="1500"/>
              <a:t>For full bibliography and research materials:</a:t>
            </a:r>
            <a:r>
              <a:rPr lang="en" sz="1500"/>
              <a:t> </a:t>
            </a:r>
            <a:r>
              <a:rPr lang="en" sz="1500" u="sng">
                <a:solidFill>
                  <a:schemeClr val="hlink"/>
                </a:solidFill>
                <a:hlinkClick r:id="rId3"/>
              </a:rPr>
              <a:t>github.com/ItsKaiwenDu/Robust-Overfitting</a:t>
            </a:r>
            <a:endParaRPr sz="1500"/>
          </a:p>
          <a:p>
            <a:pPr indent="0" lvl="0" marL="0" rtl="0" algn="l">
              <a:spcBef>
                <a:spcPts val="1000"/>
              </a:spcBef>
              <a:spcAft>
                <a:spcPts val="1000"/>
              </a:spcAft>
              <a:buClr>
                <a:schemeClr val="dk1"/>
              </a:buClr>
              <a:buSzPts val="1100"/>
              <a:buFont typeface="Arial"/>
              <a:buNone/>
            </a:pPr>
            <a:r>
              <a:rPr lang="en" sz="1500"/>
              <a:t>For full model checkpoints: </a:t>
            </a:r>
            <a:r>
              <a:rPr lang="en" sz="1500" u="sng">
                <a:solidFill>
                  <a:schemeClr val="hlink"/>
                </a:solidFill>
                <a:hlinkClick r:id="rId4"/>
              </a:rPr>
              <a:t>huggingface.co/KaiwenDu/robust-overfitting-checkpoints</a:t>
            </a:r>
            <a:endParaRPr sz="1500"/>
          </a:p>
        </p:txBody>
      </p:sp>
      <p:grpSp>
        <p:nvGrpSpPr>
          <p:cNvPr id="310" name="Google Shape;310;p26"/>
          <p:cNvGrpSpPr/>
          <p:nvPr/>
        </p:nvGrpSpPr>
        <p:grpSpPr>
          <a:xfrm rot="10800000">
            <a:off x="205788" y="4842962"/>
            <a:ext cx="537556" cy="136576"/>
            <a:chOff x="2641350" y="846250"/>
            <a:chExt cx="413600" cy="105075"/>
          </a:xfrm>
        </p:grpSpPr>
        <p:sp>
          <p:nvSpPr>
            <p:cNvPr id="311" name="Google Shape;311;p2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15" name="Google Shape;315;p26"/>
          <p:cNvGrpSpPr/>
          <p:nvPr/>
        </p:nvGrpSpPr>
        <p:grpSpPr>
          <a:xfrm>
            <a:off x="8414888" y="169062"/>
            <a:ext cx="537556" cy="136576"/>
            <a:chOff x="2641350" y="846250"/>
            <a:chExt cx="413600" cy="105075"/>
          </a:xfrm>
        </p:grpSpPr>
        <p:sp>
          <p:nvSpPr>
            <p:cNvPr id="316" name="Google Shape;316;p2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2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2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20" name="Google Shape;320;p26"/>
          <p:cNvPicPr preferRelativeResize="0"/>
          <p:nvPr/>
        </p:nvPicPr>
        <p:blipFill rotWithShape="1">
          <a:blip r:embed="rId5">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27"/>
          <p:cNvSpPr txBox="1"/>
          <p:nvPr>
            <p:ph type="title"/>
          </p:nvPr>
        </p:nvSpPr>
        <p:spPr>
          <a:xfrm>
            <a:off x="311700" y="735075"/>
            <a:ext cx="8520600" cy="2110800"/>
          </a:xfrm>
          <a:prstGeom prst="rect">
            <a:avLst/>
          </a:prstGeom>
        </p:spPr>
        <p:txBody>
          <a:bodyPr anchorCtr="0" anchor="ctr" bIns="91425" lIns="91425" spcFirstLastPara="1" rIns="91425" wrap="square" tIns="91425">
            <a:normAutofit/>
          </a:bodyPr>
          <a:lstStyle/>
          <a:p>
            <a:pPr indent="0" lvl="0" marL="0" rtl="0" algn="r">
              <a:lnSpc>
                <a:spcPct val="115000"/>
              </a:lnSpc>
              <a:spcBef>
                <a:spcPts val="0"/>
              </a:spcBef>
              <a:spcAft>
                <a:spcPts val="0"/>
              </a:spcAft>
              <a:buNone/>
            </a:pPr>
            <a:r>
              <a:rPr lang="en" sz="6000"/>
              <a:t>Thank you!</a:t>
            </a:r>
            <a:endParaRPr sz="1000"/>
          </a:p>
          <a:p>
            <a:pPr indent="0" lvl="0" marL="0" rtl="0" algn="r">
              <a:lnSpc>
                <a:spcPct val="115000"/>
              </a:lnSpc>
              <a:spcBef>
                <a:spcPts val="0"/>
              </a:spcBef>
              <a:spcAft>
                <a:spcPts val="0"/>
              </a:spcAft>
              <a:buNone/>
            </a:pPr>
            <a:r>
              <a:rPr lang="en" sz="2500"/>
              <a:t>Q</a:t>
            </a:r>
            <a:r>
              <a:rPr lang="en" sz="2500"/>
              <a:t>uestions?</a:t>
            </a:r>
            <a:endParaRPr sz="2500"/>
          </a:p>
        </p:txBody>
      </p:sp>
      <p:sp>
        <p:nvSpPr>
          <p:cNvPr id="326" name="Google Shape;326;p27"/>
          <p:cNvSpPr txBox="1"/>
          <p:nvPr>
            <p:ph idx="1" type="body"/>
          </p:nvPr>
        </p:nvSpPr>
        <p:spPr>
          <a:xfrm>
            <a:off x="5454325" y="2571750"/>
            <a:ext cx="3378000" cy="1539000"/>
          </a:xfrm>
          <a:prstGeom prst="rect">
            <a:avLst/>
          </a:prstGeom>
        </p:spPr>
        <p:txBody>
          <a:bodyPr anchorCtr="0" anchor="t" bIns="91425" lIns="91425" spcFirstLastPara="1" rIns="91425" wrap="square" tIns="91425">
            <a:noAutofit/>
          </a:bodyPr>
          <a:lstStyle/>
          <a:p>
            <a:pPr indent="0" lvl="0" marL="0" rtl="0" algn="r">
              <a:lnSpc>
                <a:spcPct val="100000"/>
              </a:lnSpc>
              <a:spcBef>
                <a:spcPts val="0"/>
              </a:spcBef>
              <a:spcAft>
                <a:spcPts val="0"/>
              </a:spcAft>
              <a:buClr>
                <a:schemeClr val="dk1"/>
              </a:buClr>
              <a:buSzPts val="1100"/>
              <a:buFont typeface="Arial"/>
              <a:buNone/>
            </a:pPr>
            <a:r>
              <a:rPr lang="en" sz="1500"/>
              <a:t>Kaiwen Du</a:t>
            </a:r>
            <a:endParaRPr sz="1500"/>
          </a:p>
          <a:p>
            <a:pPr indent="0" lvl="0" marL="0" rtl="0" algn="r">
              <a:lnSpc>
                <a:spcPct val="100000"/>
              </a:lnSpc>
              <a:spcBef>
                <a:spcPts val="1000"/>
              </a:spcBef>
              <a:spcAft>
                <a:spcPts val="0"/>
              </a:spcAft>
              <a:buClr>
                <a:schemeClr val="dk1"/>
              </a:buClr>
              <a:buSzPts val="1100"/>
              <a:buFont typeface="Arial"/>
              <a:buNone/>
            </a:pPr>
            <a:r>
              <a:rPr lang="en" sz="1500"/>
              <a:t>Department of Mathematics and Computer Science</a:t>
            </a:r>
            <a:endParaRPr sz="1500"/>
          </a:p>
          <a:p>
            <a:pPr indent="0" lvl="0" marL="0" rtl="0" algn="r">
              <a:lnSpc>
                <a:spcPct val="100000"/>
              </a:lnSpc>
              <a:spcBef>
                <a:spcPts val="1000"/>
              </a:spcBef>
              <a:spcAft>
                <a:spcPts val="1000"/>
              </a:spcAft>
              <a:buNone/>
            </a:pPr>
            <a:r>
              <a:rPr lang="en" sz="1500"/>
              <a:t>Santa Clara University</a:t>
            </a:r>
            <a:endParaRPr sz="1500"/>
          </a:p>
        </p:txBody>
      </p:sp>
      <p:grpSp>
        <p:nvGrpSpPr>
          <p:cNvPr id="327" name="Google Shape;327;p27"/>
          <p:cNvGrpSpPr/>
          <p:nvPr/>
        </p:nvGrpSpPr>
        <p:grpSpPr>
          <a:xfrm rot="10800000">
            <a:off x="205788" y="4842962"/>
            <a:ext cx="537556" cy="136576"/>
            <a:chOff x="2641350" y="846250"/>
            <a:chExt cx="413600" cy="105075"/>
          </a:xfrm>
        </p:grpSpPr>
        <p:sp>
          <p:nvSpPr>
            <p:cNvPr id="328" name="Google Shape;328;p2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2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32" name="Google Shape;332;p27"/>
          <p:cNvGrpSpPr/>
          <p:nvPr/>
        </p:nvGrpSpPr>
        <p:grpSpPr>
          <a:xfrm>
            <a:off x="8414888" y="169062"/>
            <a:ext cx="537556" cy="136576"/>
            <a:chOff x="2641350" y="846250"/>
            <a:chExt cx="413600" cy="105075"/>
          </a:xfrm>
        </p:grpSpPr>
        <p:sp>
          <p:nvSpPr>
            <p:cNvPr id="333" name="Google Shape;333;p2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2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2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2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37" name="Google Shape;337;p27" title="2.png"/>
          <p:cNvPicPr preferRelativeResize="0"/>
          <p:nvPr/>
        </p:nvPicPr>
        <p:blipFill rotWithShape="1">
          <a:blip r:embed="rId3">
            <a:alphaModFix/>
          </a:blip>
          <a:srcRect b="11371" l="0" r="0" t="0"/>
          <a:stretch/>
        </p:blipFill>
        <p:spPr>
          <a:xfrm>
            <a:off x="205800" y="169050"/>
            <a:ext cx="3881925" cy="3440400"/>
          </a:xfrm>
          <a:prstGeom prst="rect">
            <a:avLst/>
          </a:prstGeom>
          <a:noFill/>
          <a:ln>
            <a:noFill/>
          </a:ln>
        </p:spPr>
      </p:pic>
      <p:pic>
        <p:nvPicPr>
          <p:cNvPr id="338" name="Google Shape;338;p27"/>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339" name="Google Shape;339;p27"/>
          <p:cNvSpPr txBox="1"/>
          <p:nvPr/>
        </p:nvSpPr>
        <p:spPr>
          <a:xfrm>
            <a:off x="311700" y="3609450"/>
            <a:ext cx="4851900" cy="78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1000"/>
              </a:spcAft>
              <a:buNone/>
            </a:pPr>
            <a:r>
              <a:rPr b="1" i="1" lang="en" sz="1300">
                <a:solidFill>
                  <a:schemeClr val="dk2"/>
                </a:solidFill>
              </a:rPr>
              <a:t>Acknowledgments:</a:t>
            </a:r>
            <a:r>
              <a:rPr i="1" lang="en" sz="1300">
                <a:solidFill>
                  <a:schemeClr val="dk2"/>
                </a:solidFill>
              </a:rPr>
              <a:t> Thank you to Dr. Nicholas Tran for his mentorship and feedback on the research design, analysis, and presentation.</a:t>
            </a:r>
            <a:endParaRPr sz="1300">
              <a:solidFill>
                <a:schemeClr val="dk2"/>
              </a:solidFill>
            </a:endParaRPr>
          </a:p>
        </p:txBody>
      </p:sp>
      <p:sp>
        <p:nvSpPr>
          <p:cNvPr id="340" name="Google Shape;340;p27"/>
          <p:cNvSpPr txBox="1"/>
          <p:nvPr/>
        </p:nvSpPr>
        <p:spPr>
          <a:xfrm>
            <a:off x="311700" y="4347050"/>
            <a:ext cx="59748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1000"/>
              </a:spcAft>
              <a:buNone/>
            </a:pPr>
            <a:r>
              <a:rPr b="1" lang="en" sz="1300">
                <a:solidFill>
                  <a:schemeClr val="dk2"/>
                </a:solidFill>
              </a:rPr>
              <a:t>R</a:t>
            </a:r>
            <a:r>
              <a:rPr b="1" lang="en" sz="1300">
                <a:solidFill>
                  <a:schemeClr val="dk2"/>
                </a:solidFill>
              </a:rPr>
              <a:t>epository:</a:t>
            </a:r>
            <a:r>
              <a:rPr lang="en" sz="1300">
                <a:solidFill>
                  <a:schemeClr val="dk2"/>
                </a:solidFill>
              </a:rPr>
              <a:t> </a:t>
            </a:r>
            <a:r>
              <a:rPr lang="en" sz="1300" u="sng">
                <a:solidFill>
                  <a:schemeClr val="accent5"/>
                </a:solidFill>
                <a:hlinkClick r:id="rId5">
                  <a:extLst>
                    <a:ext uri="{A12FA001-AC4F-418D-AE19-62706E023703}">
                      <ahyp:hlinkClr val="tx"/>
                    </a:ext>
                  </a:extLst>
                </a:hlinkClick>
              </a:rPr>
              <a:t>github.com/ItsKaiwenDu/Robust-Overfitting</a:t>
            </a:r>
            <a:endParaRPr sz="13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